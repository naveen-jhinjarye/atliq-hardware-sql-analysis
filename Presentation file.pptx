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Canva Sans" panose="020B0604020202020204" charset="0"/>
      <p:regular r:id="rId33"/>
    </p:embeddedFont>
    <p:embeddedFont>
      <p:font typeface="Canva Sans Bold" panose="020B0604020202020204" charset="0"/>
      <p:regular r:id="rId34"/>
    </p:embeddedFont>
    <p:embeddedFont>
      <p:font typeface="DM Sans" pitchFamily="2" charset="0"/>
      <p:regular r:id="rId35"/>
    </p:embeddedFont>
    <p:embeddedFont>
      <p:font typeface="Red Hat Display" panose="020B0604020202020204" charset="0"/>
      <p:regular r:id="rId36"/>
    </p:embeddedFont>
    <p:embeddedFont>
      <p:font typeface="Red Hat Display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22" autoAdjust="0"/>
  </p:normalViewPr>
  <p:slideViewPr>
    <p:cSldViewPr>
      <p:cViewPr varScale="1">
        <p:scale>
          <a:sx n="42" d="100"/>
          <a:sy n="42" d="100"/>
        </p:scale>
        <p:origin x="812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.sv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svg"/><Relationship Id="rId7" Type="http://schemas.openxmlformats.org/officeDocument/2006/relationships/image" Target="../media/image3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4.sv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.svg"/><Relationship Id="rId7" Type="http://schemas.openxmlformats.org/officeDocument/2006/relationships/image" Target="../media/image3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30.svg"/><Relationship Id="rId5" Type="http://schemas.openxmlformats.org/officeDocument/2006/relationships/image" Target="../media/image37.png"/><Relationship Id="rId10" Type="http://schemas.openxmlformats.org/officeDocument/2006/relationships/image" Target="../media/image29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1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5.svg"/><Relationship Id="rId5" Type="http://schemas.openxmlformats.org/officeDocument/2006/relationships/image" Target="../media/image4.svg"/><Relationship Id="rId10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79482" y="1326219"/>
            <a:ext cx="1752356" cy="1728870"/>
            <a:chOff x="0" y="0"/>
            <a:chExt cx="1298081" cy="1280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081" cy="1280682"/>
            </a:xfrm>
            <a:custGeom>
              <a:avLst/>
              <a:gdLst/>
              <a:ahLst/>
              <a:cxnLst/>
              <a:rect l="l" t="t" r="r" b="b"/>
              <a:pathLst>
                <a:path w="1298081" h="1280682">
                  <a:moveTo>
                    <a:pt x="110450" y="0"/>
                  </a:moveTo>
                  <a:lnTo>
                    <a:pt x="1187630" y="0"/>
                  </a:lnTo>
                  <a:cubicBezTo>
                    <a:pt x="1216924" y="0"/>
                    <a:pt x="1245017" y="11637"/>
                    <a:pt x="1265730" y="32350"/>
                  </a:cubicBezTo>
                  <a:cubicBezTo>
                    <a:pt x="1286444" y="53064"/>
                    <a:pt x="1298081" y="81157"/>
                    <a:pt x="1298081" y="110450"/>
                  </a:cubicBezTo>
                  <a:lnTo>
                    <a:pt x="1298081" y="1170232"/>
                  </a:lnTo>
                  <a:cubicBezTo>
                    <a:pt x="1298081" y="1199526"/>
                    <a:pt x="1286444" y="1227619"/>
                    <a:pt x="1265730" y="1248332"/>
                  </a:cubicBezTo>
                  <a:cubicBezTo>
                    <a:pt x="1245017" y="1269046"/>
                    <a:pt x="1216924" y="1280682"/>
                    <a:pt x="1187630" y="1280682"/>
                  </a:cubicBezTo>
                  <a:lnTo>
                    <a:pt x="110450" y="1280682"/>
                  </a:lnTo>
                  <a:cubicBezTo>
                    <a:pt x="81157" y="1280682"/>
                    <a:pt x="53064" y="1269046"/>
                    <a:pt x="32350" y="1248332"/>
                  </a:cubicBezTo>
                  <a:cubicBezTo>
                    <a:pt x="11637" y="1227619"/>
                    <a:pt x="0" y="1199526"/>
                    <a:pt x="0" y="1170232"/>
                  </a:cubicBezTo>
                  <a:lnTo>
                    <a:pt x="0" y="110450"/>
                  </a:lnTo>
                  <a:cubicBezTo>
                    <a:pt x="0" y="81157"/>
                    <a:pt x="11637" y="53064"/>
                    <a:pt x="32350" y="32350"/>
                  </a:cubicBezTo>
                  <a:cubicBezTo>
                    <a:pt x="53064" y="11637"/>
                    <a:pt x="81157" y="0"/>
                    <a:pt x="110450" y="0"/>
                  </a:cubicBezTo>
                  <a:close/>
                </a:path>
              </a:pathLst>
            </a:custGeom>
            <a:blipFill>
              <a:blip r:embed="rId2"/>
              <a:stretch>
                <a:fillRect t="-679" b="-6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05639" y="1488461"/>
            <a:ext cx="8536765" cy="6695954"/>
            <a:chOff x="0" y="0"/>
            <a:chExt cx="2023970" cy="15875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3970" cy="1587535"/>
            </a:xfrm>
            <a:custGeom>
              <a:avLst/>
              <a:gdLst/>
              <a:ahLst/>
              <a:cxnLst/>
              <a:rect l="l" t="t" r="r" b="b"/>
              <a:pathLst>
                <a:path w="2023970" h="1587535">
                  <a:moveTo>
                    <a:pt x="22672" y="0"/>
                  </a:moveTo>
                  <a:lnTo>
                    <a:pt x="2001297" y="0"/>
                  </a:lnTo>
                  <a:cubicBezTo>
                    <a:pt x="2013819" y="0"/>
                    <a:pt x="2023970" y="10151"/>
                    <a:pt x="2023970" y="22672"/>
                  </a:cubicBezTo>
                  <a:lnTo>
                    <a:pt x="2023970" y="1564862"/>
                  </a:lnTo>
                  <a:cubicBezTo>
                    <a:pt x="2023970" y="1577384"/>
                    <a:pt x="2013819" y="1587535"/>
                    <a:pt x="2001297" y="1587535"/>
                  </a:cubicBezTo>
                  <a:lnTo>
                    <a:pt x="22672" y="1587535"/>
                  </a:lnTo>
                  <a:cubicBezTo>
                    <a:pt x="10151" y="1587535"/>
                    <a:pt x="0" y="1577384"/>
                    <a:pt x="0" y="1564862"/>
                  </a:cubicBezTo>
                  <a:lnTo>
                    <a:pt x="0" y="22672"/>
                  </a:lnTo>
                  <a:cubicBezTo>
                    <a:pt x="0" y="10151"/>
                    <a:pt x="10151" y="0"/>
                    <a:pt x="22672" y="0"/>
                  </a:cubicBezTo>
                  <a:close/>
                </a:path>
              </a:pathLst>
            </a:custGeom>
            <a:blipFill>
              <a:blip r:embed="rId3"/>
              <a:stretch>
                <a:fillRect t="-5140" b="-514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68833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7235" y="9433265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936648" y="149256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4521" y="1488461"/>
            <a:ext cx="1717079" cy="1717079"/>
          </a:xfrm>
          <a:custGeom>
            <a:avLst/>
            <a:gdLst/>
            <a:ahLst/>
            <a:cxnLst/>
            <a:rect l="l" t="t" r="r" b="b"/>
            <a:pathLst>
              <a:path w="1717079" h="1717079">
                <a:moveTo>
                  <a:pt x="0" y="0"/>
                </a:moveTo>
                <a:lnTo>
                  <a:pt x="1717080" y="0"/>
                </a:lnTo>
                <a:lnTo>
                  <a:pt x="1717080" y="1717080"/>
                </a:lnTo>
                <a:lnTo>
                  <a:pt x="0" y="1717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1012" y="3662741"/>
            <a:ext cx="8990348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71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Consumer Ad-Hoc Goods Insight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5148" y="5924114"/>
            <a:ext cx="7611366" cy="61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999">
                <a:solidFill>
                  <a:srgbClr val="4D759C"/>
                </a:solidFill>
                <a:latin typeface="DM Sans"/>
                <a:ea typeface="DM Sans"/>
                <a:cs typeface="DM Sans"/>
                <a:sym typeface="DM Sans"/>
              </a:rPr>
              <a:t>Presented By :- Naveen Jhinjarye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4521" y="6667067"/>
            <a:ext cx="7611366" cy="619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SQL Project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43456" y="664270"/>
            <a:ext cx="8250831" cy="1196978"/>
            <a:chOff x="0" y="0"/>
            <a:chExt cx="2173058" cy="3152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3058" cy="315254"/>
            </a:xfrm>
            <a:custGeom>
              <a:avLst/>
              <a:gdLst/>
              <a:ahLst/>
              <a:cxnLst/>
              <a:rect l="l" t="t" r="r" b="b"/>
              <a:pathLst>
                <a:path w="2173058" h="315254">
                  <a:moveTo>
                    <a:pt x="23458" y="0"/>
                  </a:moveTo>
                  <a:lnTo>
                    <a:pt x="2149600" y="0"/>
                  </a:lnTo>
                  <a:cubicBezTo>
                    <a:pt x="2162556" y="0"/>
                    <a:pt x="2173058" y="10503"/>
                    <a:pt x="2173058" y="23458"/>
                  </a:cubicBezTo>
                  <a:lnTo>
                    <a:pt x="2173058" y="291796"/>
                  </a:lnTo>
                  <a:cubicBezTo>
                    <a:pt x="2173058" y="304751"/>
                    <a:pt x="2162556" y="315254"/>
                    <a:pt x="2149600" y="315254"/>
                  </a:cubicBezTo>
                  <a:lnTo>
                    <a:pt x="23458" y="315254"/>
                  </a:lnTo>
                  <a:cubicBezTo>
                    <a:pt x="10503" y="315254"/>
                    <a:pt x="0" y="304751"/>
                    <a:pt x="0" y="291796"/>
                  </a:cubicBezTo>
                  <a:lnTo>
                    <a:pt x="0" y="23458"/>
                  </a:lnTo>
                  <a:cubicBezTo>
                    <a:pt x="0" y="10503"/>
                    <a:pt x="10503" y="0"/>
                    <a:pt x="23458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73058" cy="439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12389" y="2327973"/>
            <a:ext cx="8448383" cy="1332085"/>
            <a:chOff x="0" y="0"/>
            <a:chExt cx="2225088" cy="350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25088" cy="350837"/>
            </a:xfrm>
            <a:custGeom>
              <a:avLst/>
              <a:gdLst/>
              <a:ahLst/>
              <a:cxnLst/>
              <a:rect l="l" t="t" r="r" b="b"/>
              <a:pathLst>
                <a:path w="2225088" h="350837">
                  <a:moveTo>
                    <a:pt x="22909" y="0"/>
                  </a:moveTo>
                  <a:lnTo>
                    <a:pt x="2202179" y="0"/>
                  </a:lnTo>
                  <a:cubicBezTo>
                    <a:pt x="2208255" y="0"/>
                    <a:pt x="2214082" y="2414"/>
                    <a:pt x="2218378" y="6710"/>
                  </a:cubicBezTo>
                  <a:cubicBezTo>
                    <a:pt x="2222675" y="11006"/>
                    <a:pt x="2225088" y="16834"/>
                    <a:pt x="2225088" y="22909"/>
                  </a:cubicBezTo>
                  <a:lnTo>
                    <a:pt x="2225088" y="327928"/>
                  </a:lnTo>
                  <a:cubicBezTo>
                    <a:pt x="2225088" y="334004"/>
                    <a:pt x="2222675" y="339831"/>
                    <a:pt x="2218378" y="344127"/>
                  </a:cubicBezTo>
                  <a:cubicBezTo>
                    <a:pt x="2214082" y="348423"/>
                    <a:pt x="2208255" y="350837"/>
                    <a:pt x="2202179" y="350837"/>
                  </a:cubicBezTo>
                  <a:lnTo>
                    <a:pt x="22909" y="350837"/>
                  </a:lnTo>
                  <a:cubicBezTo>
                    <a:pt x="16834" y="350837"/>
                    <a:pt x="11006" y="348423"/>
                    <a:pt x="6710" y="344127"/>
                  </a:cubicBezTo>
                  <a:cubicBezTo>
                    <a:pt x="2414" y="339831"/>
                    <a:pt x="0" y="334004"/>
                    <a:pt x="0" y="327928"/>
                  </a:cubicBezTo>
                  <a:lnTo>
                    <a:pt x="0" y="22909"/>
                  </a:lnTo>
                  <a:cubicBezTo>
                    <a:pt x="0" y="16834"/>
                    <a:pt x="2414" y="11006"/>
                    <a:pt x="6710" y="6710"/>
                  </a:cubicBezTo>
                  <a:cubicBezTo>
                    <a:pt x="11006" y="2414"/>
                    <a:pt x="16834" y="0"/>
                    <a:pt x="22909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225088" cy="474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44680" y="4126783"/>
            <a:ext cx="8448383" cy="1306787"/>
            <a:chOff x="0" y="0"/>
            <a:chExt cx="2225088" cy="344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5088" cy="344174"/>
            </a:xfrm>
            <a:custGeom>
              <a:avLst/>
              <a:gdLst/>
              <a:ahLst/>
              <a:cxnLst/>
              <a:rect l="l" t="t" r="r" b="b"/>
              <a:pathLst>
                <a:path w="2225088" h="344174">
                  <a:moveTo>
                    <a:pt x="22909" y="0"/>
                  </a:moveTo>
                  <a:lnTo>
                    <a:pt x="2202179" y="0"/>
                  </a:lnTo>
                  <a:cubicBezTo>
                    <a:pt x="2208255" y="0"/>
                    <a:pt x="2214082" y="2414"/>
                    <a:pt x="2218378" y="6710"/>
                  </a:cubicBezTo>
                  <a:cubicBezTo>
                    <a:pt x="2222675" y="11006"/>
                    <a:pt x="2225088" y="16834"/>
                    <a:pt x="2225088" y="22909"/>
                  </a:cubicBezTo>
                  <a:lnTo>
                    <a:pt x="2225088" y="321265"/>
                  </a:lnTo>
                  <a:cubicBezTo>
                    <a:pt x="2225088" y="327341"/>
                    <a:pt x="2222675" y="333168"/>
                    <a:pt x="2218378" y="337464"/>
                  </a:cubicBezTo>
                  <a:cubicBezTo>
                    <a:pt x="2214082" y="341761"/>
                    <a:pt x="2208255" y="344174"/>
                    <a:pt x="2202179" y="344174"/>
                  </a:cubicBezTo>
                  <a:lnTo>
                    <a:pt x="22909" y="344174"/>
                  </a:lnTo>
                  <a:cubicBezTo>
                    <a:pt x="16834" y="344174"/>
                    <a:pt x="11006" y="341761"/>
                    <a:pt x="6710" y="337464"/>
                  </a:cubicBezTo>
                  <a:cubicBezTo>
                    <a:pt x="2414" y="333168"/>
                    <a:pt x="0" y="327341"/>
                    <a:pt x="0" y="321265"/>
                  </a:cubicBezTo>
                  <a:lnTo>
                    <a:pt x="0" y="22909"/>
                  </a:lnTo>
                  <a:cubicBezTo>
                    <a:pt x="0" y="16834"/>
                    <a:pt x="2414" y="11006"/>
                    <a:pt x="6710" y="6710"/>
                  </a:cubicBezTo>
                  <a:cubicBezTo>
                    <a:pt x="11006" y="2414"/>
                    <a:pt x="16834" y="0"/>
                    <a:pt x="22909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2225088" cy="467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751185" y="77165"/>
            <a:ext cx="6270052" cy="1174210"/>
          </a:xfrm>
          <a:custGeom>
            <a:avLst/>
            <a:gdLst/>
            <a:ahLst/>
            <a:cxnLst/>
            <a:rect l="l" t="t" r="r" b="b"/>
            <a:pathLst>
              <a:path w="6270052" h="1174210">
                <a:moveTo>
                  <a:pt x="0" y="0"/>
                </a:moveTo>
                <a:lnTo>
                  <a:pt x="6270051" y="0"/>
                </a:lnTo>
                <a:lnTo>
                  <a:pt x="6270051" y="1174210"/>
                </a:lnTo>
                <a:lnTo>
                  <a:pt x="0" y="117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01312" y="9540325"/>
            <a:ext cx="10052979" cy="1882649"/>
          </a:xfrm>
          <a:custGeom>
            <a:avLst/>
            <a:gdLst/>
            <a:ahLst/>
            <a:cxnLst/>
            <a:rect l="l" t="t" r="r" b="b"/>
            <a:pathLst>
              <a:path w="10052979" h="1882649">
                <a:moveTo>
                  <a:pt x="0" y="0"/>
                </a:moveTo>
                <a:lnTo>
                  <a:pt x="10052979" y="0"/>
                </a:lnTo>
                <a:lnTo>
                  <a:pt x="10052979" y="1882649"/>
                </a:lnTo>
                <a:lnTo>
                  <a:pt x="0" y="1882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9476971" y="7699105"/>
            <a:ext cx="8583801" cy="1371568"/>
            <a:chOff x="0" y="0"/>
            <a:chExt cx="2260754" cy="3612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0754" cy="361236"/>
            </a:xfrm>
            <a:custGeom>
              <a:avLst/>
              <a:gdLst/>
              <a:ahLst/>
              <a:cxnLst/>
              <a:rect l="l" t="t" r="r" b="b"/>
              <a:pathLst>
                <a:path w="2260754" h="361236">
                  <a:moveTo>
                    <a:pt x="22548" y="0"/>
                  </a:moveTo>
                  <a:lnTo>
                    <a:pt x="2238206" y="0"/>
                  </a:lnTo>
                  <a:cubicBezTo>
                    <a:pt x="2244186" y="0"/>
                    <a:pt x="2249922" y="2376"/>
                    <a:pt x="2254150" y="6604"/>
                  </a:cubicBezTo>
                  <a:cubicBezTo>
                    <a:pt x="2258379" y="10833"/>
                    <a:pt x="2260754" y="16568"/>
                    <a:pt x="2260754" y="22548"/>
                  </a:cubicBezTo>
                  <a:lnTo>
                    <a:pt x="2260754" y="338688"/>
                  </a:lnTo>
                  <a:cubicBezTo>
                    <a:pt x="2260754" y="344668"/>
                    <a:pt x="2258379" y="350403"/>
                    <a:pt x="2254150" y="354632"/>
                  </a:cubicBezTo>
                  <a:cubicBezTo>
                    <a:pt x="2249922" y="358860"/>
                    <a:pt x="2244186" y="361236"/>
                    <a:pt x="2238206" y="361236"/>
                  </a:cubicBezTo>
                  <a:lnTo>
                    <a:pt x="22548" y="361236"/>
                  </a:lnTo>
                  <a:cubicBezTo>
                    <a:pt x="16568" y="361236"/>
                    <a:pt x="10833" y="358860"/>
                    <a:pt x="6604" y="354632"/>
                  </a:cubicBezTo>
                  <a:cubicBezTo>
                    <a:pt x="2376" y="350403"/>
                    <a:pt x="0" y="344668"/>
                    <a:pt x="0" y="338688"/>
                  </a:cubicBezTo>
                  <a:lnTo>
                    <a:pt x="0" y="22548"/>
                  </a:lnTo>
                  <a:cubicBezTo>
                    <a:pt x="0" y="16568"/>
                    <a:pt x="2376" y="10833"/>
                    <a:pt x="6604" y="6604"/>
                  </a:cubicBezTo>
                  <a:cubicBezTo>
                    <a:pt x="10833" y="2376"/>
                    <a:pt x="16568" y="0"/>
                    <a:pt x="22548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2260754" cy="485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44680" y="5900295"/>
            <a:ext cx="8448383" cy="1332085"/>
            <a:chOff x="0" y="0"/>
            <a:chExt cx="2225088" cy="3508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25088" cy="350837"/>
            </a:xfrm>
            <a:custGeom>
              <a:avLst/>
              <a:gdLst/>
              <a:ahLst/>
              <a:cxnLst/>
              <a:rect l="l" t="t" r="r" b="b"/>
              <a:pathLst>
                <a:path w="2225088" h="350837">
                  <a:moveTo>
                    <a:pt x="22909" y="0"/>
                  </a:moveTo>
                  <a:lnTo>
                    <a:pt x="2202179" y="0"/>
                  </a:lnTo>
                  <a:cubicBezTo>
                    <a:pt x="2208255" y="0"/>
                    <a:pt x="2214082" y="2414"/>
                    <a:pt x="2218378" y="6710"/>
                  </a:cubicBezTo>
                  <a:cubicBezTo>
                    <a:pt x="2222675" y="11006"/>
                    <a:pt x="2225088" y="16834"/>
                    <a:pt x="2225088" y="22909"/>
                  </a:cubicBezTo>
                  <a:lnTo>
                    <a:pt x="2225088" y="327928"/>
                  </a:lnTo>
                  <a:cubicBezTo>
                    <a:pt x="2225088" y="334004"/>
                    <a:pt x="2222675" y="339831"/>
                    <a:pt x="2218378" y="344127"/>
                  </a:cubicBezTo>
                  <a:cubicBezTo>
                    <a:pt x="2214082" y="348423"/>
                    <a:pt x="2208255" y="350837"/>
                    <a:pt x="2202179" y="350837"/>
                  </a:cubicBezTo>
                  <a:lnTo>
                    <a:pt x="22909" y="350837"/>
                  </a:lnTo>
                  <a:cubicBezTo>
                    <a:pt x="16834" y="350837"/>
                    <a:pt x="11006" y="348423"/>
                    <a:pt x="6710" y="344127"/>
                  </a:cubicBezTo>
                  <a:cubicBezTo>
                    <a:pt x="2414" y="339831"/>
                    <a:pt x="0" y="334004"/>
                    <a:pt x="0" y="327928"/>
                  </a:cubicBezTo>
                  <a:lnTo>
                    <a:pt x="0" y="22909"/>
                  </a:lnTo>
                  <a:cubicBezTo>
                    <a:pt x="0" y="16834"/>
                    <a:pt x="2414" y="11006"/>
                    <a:pt x="6710" y="6710"/>
                  </a:cubicBezTo>
                  <a:cubicBezTo>
                    <a:pt x="11006" y="2414"/>
                    <a:pt x="16834" y="0"/>
                    <a:pt x="22909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2225088" cy="474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001" y="2028746"/>
            <a:ext cx="8250831" cy="6356143"/>
            <a:chOff x="0" y="0"/>
            <a:chExt cx="2173058" cy="16740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3058" cy="1674046"/>
            </a:xfrm>
            <a:custGeom>
              <a:avLst/>
              <a:gdLst/>
              <a:ahLst/>
              <a:cxnLst/>
              <a:rect l="l" t="t" r="r" b="b"/>
              <a:pathLst>
                <a:path w="2173058" h="1674046">
                  <a:moveTo>
                    <a:pt x="23458" y="0"/>
                  </a:moveTo>
                  <a:lnTo>
                    <a:pt x="2149600" y="0"/>
                  </a:lnTo>
                  <a:cubicBezTo>
                    <a:pt x="2162556" y="0"/>
                    <a:pt x="2173058" y="10503"/>
                    <a:pt x="2173058" y="23458"/>
                  </a:cubicBezTo>
                  <a:lnTo>
                    <a:pt x="2173058" y="1650588"/>
                  </a:lnTo>
                  <a:cubicBezTo>
                    <a:pt x="2173058" y="1663543"/>
                    <a:pt x="2162556" y="1674046"/>
                    <a:pt x="2149600" y="1674046"/>
                  </a:cubicBezTo>
                  <a:lnTo>
                    <a:pt x="23458" y="1674046"/>
                  </a:lnTo>
                  <a:cubicBezTo>
                    <a:pt x="10503" y="1674046"/>
                    <a:pt x="0" y="1663543"/>
                    <a:pt x="0" y="1650588"/>
                  </a:cubicBezTo>
                  <a:lnTo>
                    <a:pt x="0" y="23458"/>
                  </a:lnTo>
                  <a:cubicBezTo>
                    <a:pt x="0" y="10503"/>
                    <a:pt x="10503" y="0"/>
                    <a:pt x="23458" y="0"/>
                  </a:cubicBezTo>
                  <a:close/>
                </a:path>
              </a:pathLst>
            </a:custGeom>
            <a:solidFill>
              <a:srgbClr val="739EC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2173058" cy="1797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331644" y="7699105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387362" y="23279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7" y="0"/>
                </a:lnTo>
                <a:lnTo>
                  <a:pt x="1655827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54078" y="3842895"/>
            <a:ext cx="2115084" cy="2057400"/>
          </a:xfrm>
          <a:custGeom>
            <a:avLst/>
            <a:gdLst/>
            <a:ahLst/>
            <a:cxnLst/>
            <a:rect l="l" t="t" r="r" b="b"/>
            <a:pathLst>
              <a:path w="2115084" h="2057400">
                <a:moveTo>
                  <a:pt x="0" y="0"/>
                </a:moveTo>
                <a:lnTo>
                  <a:pt x="2115084" y="0"/>
                </a:lnTo>
                <a:lnTo>
                  <a:pt x="211508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769162" y="4209608"/>
            <a:ext cx="521278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39"/>
              </a:lnSpc>
            </a:pPr>
            <a:r>
              <a:rPr lang="en-US" sz="869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AGENDA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7991" y="927842"/>
            <a:ext cx="58217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Atliq Hardware Background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62827" y="2474413"/>
            <a:ext cx="80314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Project Statement &amp; Project Objective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26364" y="4456644"/>
            <a:ext cx="4139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Database Overview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69113" y="6005633"/>
            <a:ext cx="8383198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Getting Familiar with Atliq’s Product lines and customer Segmentation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44680" y="7876781"/>
            <a:ext cx="8516092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Ad-Hoc requests along with the queried results, visualization and insights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01700" y="2160232"/>
            <a:ext cx="1389625" cy="1371000"/>
            <a:chOff x="0" y="0"/>
            <a:chExt cx="1298081" cy="1280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081" cy="1280682"/>
            </a:xfrm>
            <a:custGeom>
              <a:avLst/>
              <a:gdLst/>
              <a:ahLst/>
              <a:cxnLst/>
              <a:rect l="l" t="t" r="r" b="b"/>
              <a:pathLst>
                <a:path w="1298081" h="1280682">
                  <a:moveTo>
                    <a:pt x="139281" y="0"/>
                  </a:moveTo>
                  <a:lnTo>
                    <a:pt x="1158800" y="0"/>
                  </a:lnTo>
                  <a:cubicBezTo>
                    <a:pt x="1195739" y="0"/>
                    <a:pt x="1231166" y="14674"/>
                    <a:pt x="1257286" y="40794"/>
                  </a:cubicBezTo>
                  <a:cubicBezTo>
                    <a:pt x="1283406" y="66915"/>
                    <a:pt x="1298081" y="102341"/>
                    <a:pt x="1298081" y="139281"/>
                  </a:cubicBezTo>
                  <a:lnTo>
                    <a:pt x="1298081" y="1141402"/>
                  </a:lnTo>
                  <a:cubicBezTo>
                    <a:pt x="1298081" y="1178341"/>
                    <a:pt x="1283406" y="1213768"/>
                    <a:pt x="1257286" y="1239888"/>
                  </a:cubicBezTo>
                  <a:cubicBezTo>
                    <a:pt x="1231166" y="1266008"/>
                    <a:pt x="1195739" y="1280682"/>
                    <a:pt x="1158800" y="1280682"/>
                  </a:cubicBezTo>
                  <a:lnTo>
                    <a:pt x="139281" y="1280682"/>
                  </a:lnTo>
                  <a:cubicBezTo>
                    <a:pt x="62358" y="1280682"/>
                    <a:pt x="0" y="1218324"/>
                    <a:pt x="0" y="1141402"/>
                  </a:cubicBezTo>
                  <a:lnTo>
                    <a:pt x="0" y="139281"/>
                  </a:lnTo>
                  <a:cubicBezTo>
                    <a:pt x="0" y="102341"/>
                    <a:pt x="14674" y="66915"/>
                    <a:pt x="40794" y="40794"/>
                  </a:cubicBezTo>
                  <a:cubicBezTo>
                    <a:pt x="66915" y="14674"/>
                    <a:pt x="102341" y="0"/>
                    <a:pt x="139281" y="0"/>
                  </a:cubicBezTo>
                  <a:close/>
                </a:path>
              </a:pathLst>
            </a:custGeom>
            <a:blipFill>
              <a:blip r:embed="rId2"/>
              <a:stretch>
                <a:fillRect t="-679" b="-6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45142" y="2160232"/>
            <a:ext cx="8428741" cy="5728860"/>
            <a:chOff x="0" y="0"/>
            <a:chExt cx="2063946" cy="14028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63946" cy="1402826"/>
            </a:xfrm>
            <a:custGeom>
              <a:avLst/>
              <a:gdLst/>
              <a:ahLst/>
              <a:cxnLst/>
              <a:rect l="l" t="t" r="r" b="b"/>
              <a:pathLst>
                <a:path w="2063946" h="1402826">
                  <a:moveTo>
                    <a:pt x="22963" y="0"/>
                  </a:moveTo>
                  <a:lnTo>
                    <a:pt x="2040983" y="0"/>
                  </a:lnTo>
                  <a:cubicBezTo>
                    <a:pt x="2053666" y="0"/>
                    <a:pt x="2063946" y="10281"/>
                    <a:pt x="2063946" y="22963"/>
                  </a:cubicBezTo>
                  <a:lnTo>
                    <a:pt x="2063946" y="1379863"/>
                  </a:lnTo>
                  <a:cubicBezTo>
                    <a:pt x="2063946" y="1392545"/>
                    <a:pt x="2053666" y="1402826"/>
                    <a:pt x="2040983" y="1402826"/>
                  </a:cubicBezTo>
                  <a:lnTo>
                    <a:pt x="22963" y="1402826"/>
                  </a:lnTo>
                  <a:cubicBezTo>
                    <a:pt x="16873" y="1402826"/>
                    <a:pt x="11032" y="1400407"/>
                    <a:pt x="6726" y="1396101"/>
                  </a:cubicBezTo>
                  <a:cubicBezTo>
                    <a:pt x="2419" y="1391794"/>
                    <a:pt x="0" y="1385954"/>
                    <a:pt x="0" y="1379863"/>
                  </a:cubicBezTo>
                  <a:lnTo>
                    <a:pt x="0" y="22963"/>
                  </a:lnTo>
                  <a:cubicBezTo>
                    <a:pt x="0" y="10281"/>
                    <a:pt x="10281" y="0"/>
                    <a:pt x="22963" y="0"/>
                  </a:cubicBezTo>
                  <a:close/>
                </a:path>
              </a:pathLst>
            </a:custGeom>
            <a:blipFill>
              <a:blip r:embed="rId3"/>
              <a:stretch>
                <a:fillRect l="-10821" r="-1082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68833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7235" y="9433265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936648" y="149256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32634" y="6126965"/>
            <a:ext cx="7611366" cy="197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The company operates across four major regions: APAC, EU, LATAM, and North America.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2634" y="3840963"/>
            <a:ext cx="7611366" cy="197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Atliq Hardwares is a leading computer hardware company specializing in PCs, accessories, and networking products.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2634" y="2150707"/>
            <a:ext cx="7611366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ATLIQ</a:t>
            </a:r>
          </a:p>
          <a:p>
            <a:pPr algn="l">
              <a:lnSpc>
                <a:spcPts val="6000"/>
              </a:lnSpc>
            </a:pPr>
            <a:r>
              <a:rPr lang="en-US" sz="5000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HARWARES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7802" y="4068442"/>
            <a:ext cx="5806025" cy="1196978"/>
            <a:chOff x="0" y="0"/>
            <a:chExt cx="1529159" cy="3152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9159" cy="315254"/>
            </a:xfrm>
            <a:custGeom>
              <a:avLst/>
              <a:gdLst/>
              <a:ahLst/>
              <a:cxnLst/>
              <a:rect l="l" t="t" r="r" b="b"/>
              <a:pathLst>
                <a:path w="1529159" h="315254">
                  <a:moveTo>
                    <a:pt x="33336" y="0"/>
                  </a:moveTo>
                  <a:lnTo>
                    <a:pt x="1495823" y="0"/>
                  </a:lnTo>
                  <a:cubicBezTo>
                    <a:pt x="1504664" y="0"/>
                    <a:pt x="1513143" y="3512"/>
                    <a:pt x="1519395" y="9764"/>
                  </a:cubicBezTo>
                  <a:cubicBezTo>
                    <a:pt x="1525647" y="16015"/>
                    <a:pt x="1529159" y="24495"/>
                    <a:pt x="1529159" y="33336"/>
                  </a:cubicBezTo>
                  <a:lnTo>
                    <a:pt x="1529159" y="281918"/>
                  </a:lnTo>
                  <a:cubicBezTo>
                    <a:pt x="1529159" y="290759"/>
                    <a:pt x="1525647" y="299238"/>
                    <a:pt x="1519395" y="305490"/>
                  </a:cubicBezTo>
                  <a:cubicBezTo>
                    <a:pt x="1513143" y="311741"/>
                    <a:pt x="1504664" y="315254"/>
                    <a:pt x="1495823" y="315254"/>
                  </a:cubicBezTo>
                  <a:lnTo>
                    <a:pt x="33336" y="315254"/>
                  </a:lnTo>
                  <a:cubicBezTo>
                    <a:pt x="24495" y="315254"/>
                    <a:pt x="16015" y="311741"/>
                    <a:pt x="9764" y="305490"/>
                  </a:cubicBezTo>
                  <a:cubicBezTo>
                    <a:pt x="3512" y="299238"/>
                    <a:pt x="0" y="290759"/>
                    <a:pt x="0" y="281918"/>
                  </a:cubicBezTo>
                  <a:lnTo>
                    <a:pt x="0" y="33336"/>
                  </a:lnTo>
                  <a:cubicBezTo>
                    <a:pt x="0" y="24495"/>
                    <a:pt x="3512" y="16015"/>
                    <a:pt x="9764" y="9764"/>
                  </a:cubicBezTo>
                  <a:cubicBezTo>
                    <a:pt x="16015" y="3512"/>
                    <a:pt x="24495" y="0"/>
                    <a:pt x="33336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529159" cy="439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97802" y="5470208"/>
            <a:ext cx="5806025" cy="1332085"/>
            <a:chOff x="0" y="0"/>
            <a:chExt cx="1529159" cy="350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9159" cy="350837"/>
            </a:xfrm>
            <a:custGeom>
              <a:avLst/>
              <a:gdLst/>
              <a:ahLst/>
              <a:cxnLst/>
              <a:rect l="l" t="t" r="r" b="b"/>
              <a:pathLst>
                <a:path w="1529159" h="350837">
                  <a:moveTo>
                    <a:pt x="33336" y="0"/>
                  </a:moveTo>
                  <a:lnTo>
                    <a:pt x="1495823" y="0"/>
                  </a:lnTo>
                  <a:cubicBezTo>
                    <a:pt x="1504664" y="0"/>
                    <a:pt x="1513143" y="3512"/>
                    <a:pt x="1519395" y="9764"/>
                  </a:cubicBezTo>
                  <a:cubicBezTo>
                    <a:pt x="1525647" y="16015"/>
                    <a:pt x="1529159" y="24495"/>
                    <a:pt x="1529159" y="33336"/>
                  </a:cubicBezTo>
                  <a:lnTo>
                    <a:pt x="1529159" y="317501"/>
                  </a:lnTo>
                  <a:cubicBezTo>
                    <a:pt x="1529159" y="326343"/>
                    <a:pt x="1525647" y="334822"/>
                    <a:pt x="1519395" y="341073"/>
                  </a:cubicBezTo>
                  <a:cubicBezTo>
                    <a:pt x="1513143" y="347325"/>
                    <a:pt x="1504664" y="350837"/>
                    <a:pt x="1495823" y="350837"/>
                  </a:cubicBezTo>
                  <a:lnTo>
                    <a:pt x="33336" y="350837"/>
                  </a:lnTo>
                  <a:cubicBezTo>
                    <a:pt x="24495" y="350837"/>
                    <a:pt x="16015" y="347325"/>
                    <a:pt x="9764" y="341073"/>
                  </a:cubicBezTo>
                  <a:cubicBezTo>
                    <a:pt x="3512" y="334822"/>
                    <a:pt x="0" y="326343"/>
                    <a:pt x="0" y="317501"/>
                  </a:cubicBezTo>
                  <a:lnTo>
                    <a:pt x="0" y="33336"/>
                  </a:lnTo>
                  <a:cubicBezTo>
                    <a:pt x="0" y="24495"/>
                    <a:pt x="3512" y="16015"/>
                    <a:pt x="9764" y="9764"/>
                  </a:cubicBezTo>
                  <a:cubicBezTo>
                    <a:pt x="16015" y="3512"/>
                    <a:pt x="24495" y="0"/>
                    <a:pt x="33336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529159" cy="474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97802" y="7007080"/>
            <a:ext cx="5905756" cy="1306787"/>
            <a:chOff x="0" y="0"/>
            <a:chExt cx="1555425" cy="344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55426" cy="344174"/>
            </a:xfrm>
            <a:custGeom>
              <a:avLst/>
              <a:gdLst/>
              <a:ahLst/>
              <a:cxnLst/>
              <a:rect l="l" t="t" r="r" b="b"/>
              <a:pathLst>
                <a:path w="1555426" h="344174">
                  <a:moveTo>
                    <a:pt x="32773" y="0"/>
                  </a:moveTo>
                  <a:lnTo>
                    <a:pt x="1522653" y="0"/>
                  </a:lnTo>
                  <a:cubicBezTo>
                    <a:pt x="1531345" y="0"/>
                    <a:pt x="1539681" y="3453"/>
                    <a:pt x="1545827" y="9599"/>
                  </a:cubicBezTo>
                  <a:cubicBezTo>
                    <a:pt x="1551973" y="15745"/>
                    <a:pt x="1555426" y="24081"/>
                    <a:pt x="1555426" y="32773"/>
                  </a:cubicBezTo>
                  <a:lnTo>
                    <a:pt x="1555426" y="311402"/>
                  </a:lnTo>
                  <a:cubicBezTo>
                    <a:pt x="1555426" y="320094"/>
                    <a:pt x="1551973" y="328429"/>
                    <a:pt x="1545827" y="334576"/>
                  </a:cubicBezTo>
                  <a:cubicBezTo>
                    <a:pt x="1539681" y="340722"/>
                    <a:pt x="1531345" y="344174"/>
                    <a:pt x="1522653" y="344174"/>
                  </a:cubicBezTo>
                  <a:lnTo>
                    <a:pt x="32773" y="344174"/>
                  </a:lnTo>
                  <a:cubicBezTo>
                    <a:pt x="24081" y="344174"/>
                    <a:pt x="15745" y="340722"/>
                    <a:pt x="9599" y="334576"/>
                  </a:cubicBezTo>
                  <a:cubicBezTo>
                    <a:pt x="3453" y="328429"/>
                    <a:pt x="0" y="320094"/>
                    <a:pt x="0" y="311402"/>
                  </a:cubicBezTo>
                  <a:lnTo>
                    <a:pt x="0" y="32773"/>
                  </a:lnTo>
                  <a:cubicBezTo>
                    <a:pt x="0" y="24081"/>
                    <a:pt x="3453" y="15745"/>
                    <a:pt x="9599" y="9599"/>
                  </a:cubicBezTo>
                  <a:cubicBezTo>
                    <a:pt x="15745" y="3453"/>
                    <a:pt x="24081" y="0"/>
                    <a:pt x="32773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555425" cy="467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34751" y="9258300"/>
            <a:ext cx="10052979" cy="1882649"/>
          </a:xfrm>
          <a:custGeom>
            <a:avLst/>
            <a:gdLst/>
            <a:ahLst/>
            <a:cxnLst/>
            <a:rect l="l" t="t" r="r" b="b"/>
            <a:pathLst>
              <a:path w="10052979" h="1882649">
                <a:moveTo>
                  <a:pt x="0" y="0"/>
                </a:moveTo>
                <a:lnTo>
                  <a:pt x="10052980" y="0"/>
                </a:lnTo>
                <a:lnTo>
                  <a:pt x="10052980" y="1882649"/>
                </a:lnTo>
                <a:lnTo>
                  <a:pt x="0" y="1882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35021" y="2243691"/>
            <a:ext cx="9933129" cy="6070176"/>
          </a:xfrm>
          <a:custGeom>
            <a:avLst/>
            <a:gdLst/>
            <a:ahLst/>
            <a:cxnLst/>
            <a:rect l="l" t="t" r="r" b="b"/>
            <a:pathLst>
              <a:path w="9933129" h="6070176">
                <a:moveTo>
                  <a:pt x="0" y="0"/>
                </a:moveTo>
                <a:lnTo>
                  <a:pt x="9933129" y="0"/>
                </a:lnTo>
                <a:lnTo>
                  <a:pt x="9933129" y="6070176"/>
                </a:lnTo>
                <a:lnTo>
                  <a:pt x="0" y="6070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64" r="-606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97533" y="2243691"/>
            <a:ext cx="6137218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1"/>
              </a:lnSpc>
            </a:pPr>
            <a:r>
              <a:rPr lang="en-US" sz="5525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 Statement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97533" y="4097336"/>
            <a:ext cx="542770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Company has large sales data but lacks clear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97533" y="5674850"/>
            <a:ext cx="5427700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262626"/>
                </a:solidFill>
                <a:latin typeface="Canva Sans"/>
                <a:ea typeface="Canva Sans"/>
                <a:cs typeface="Canva Sans"/>
                <a:sym typeface="Canva Sans"/>
              </a:rPr>
              <a:t>Decision-making is slow due to no proper data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3840" y="7040417"/>
            <a:ext cx="542770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Need to convert raw data into actionable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17574" y="1560734"/>
            <a:ext cx="3819525" cy="3433086"/>
            <a:chOff x="0" y="0"/>
            <a:chExt cx="1005965" cy="904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965" cy="904187"/>
            </a:xfrm>
            <a:custGeom>
              <a:avLst/>
              <a:gdLst/>
              <a:ahLst/>
              <a:cxnLst/>
              <a:rect l="l" t="t" r="r" b="b"/>
              <a:pathLst>
                <a:path w="1005965" h="904187">
                  <a:moveTo>
                    <a:pt x="50673" y="0"/>
                  </a:moveTo>
                  <a:lnTo>
                    <a:pt x="955292" y="0"/>
                  </a:lnTo>
                  <a:cubicBezTo>
                    <a:pt x="983278" y="0"/>
                    <a:pt x="1005965" y="22687"/>
                    <a:pt x="1005965" y="50673"/>
                  </a:cubicBezTo>
                  <a:lnTo>
                    <a:pt x="1005965" y="853514"/>
                  </a:lnTo>
                  <a:cubicBezTo>
                    <a:pt x="1005965" y="881500"/>
                    <a:pt x="983278" y="904187"/>
                    <a:pt x="955292" y="904187"/>
                  </a:cubicBezTo>
                  <a:lnTo>
                    <a:pt x="50673" y="904187"/>
                  </a:lnTo>
                  <a:cubicBezTo>
                    <a:pt x="22687" y="904187"/>
                    <a:pt x="0" y="881500"/>
                    <a:pt x="0" y="853514"/>
                  </a:cubicBezTo>
                  <a:lnTo>
                    <a:pt x="0" y="50673"/>
                  </a:lnTo>
                  <a:cubicBezTo>
                    <a:pt x="0" y="22687"/>
                    <a:pt x="22687" y="0"/>
                    <a:pt x="50673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005965" cy="1008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52068" y="5241470"/>
            <a:ext cx="3819525" cy="3433086"/>
            <a:chOff x="0" y="0"/>
            <a:chExt cx="1005965" cy="904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5965" cy="904187"/>
            </a:xfrm>
            <a:custGeom>
              <a:avLst/>
              <a:gdLst/>
              <a:ahLst/>
              <a:cxnLst/>
              <a:rect l="l" t="t" r="r" b="b"/>
              <a:pathLst>
                <a:path w="1005965" h="904187">
                  <a:moveTo>
                    <a:pt x="50673" y="0"/>
                  </a:moveTo>
                  <a:lnTo>
                    <a:pt x="955292" y="0"/>
                  </a:lnTo>
                  <a:cubicBezTo>
                    <a:pt x="983278" y="0"/>
                    <a:pt x="1005965" y="22687"/>
                    <a:pt x="1005965" y="50673"/>
                  </a:cubicBezTo>
                  <a:lnTo>
                    <a:pt x="1005965" y="853514"/>
                  </a:lnTo>
                  <a:cubicBezTo>
                    <a:pt x="1005965" y="881500"/>
                    <a:pt x="983278" y="904187"/>
                    <a:pt x="955292" y="904187"/>
                  </a:cubicBezTo>
                  <a:lnTo>
                    <a:pt x="50673" y="904187"/>
                  </a:lnTo>
                  <a:cubicBezTo>
                    <a:pt x="22687" y="904187"/>
                    <a:pt x="0" y="881500"/>
                    <a:pt x="0" y="853514"/>
                  </a:cubicBezTo>
                  <a:lnTo>
                    <a:pt x="0" y="50673"/>
                  </a:lnTo>
                  <a:cubicBezTo>
                    <a:pt x="0" y="22687"/>
                    <a:pt x="22687" y="0"/>
                    <a:pt x="50673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1005965" cy="1008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35875" y="4681185"/>
            <a:ext cx="8954854" cy="3902985"/>
            <a:chOff x="0" y="0"/>
            <a:chExt cx="1387341" cy="604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7341" cy="604674"/>
            </a:xfrm>
            <a:custGeom>
              <a:avLst/>
              <a:gdLst/>
              <a:ahLst/>
              <a:cxnLst/>
              <a:rect l="l" t="t" r="r" b="b"/>
              <a:pathLst>
                <a:path w="1387341" h="604674">
                  <a:moveTo>
                    <a:pt x="19885" y="0"/>
                  </a:moveTo>
                  <a:lnTo>
                    <a:pt x="1367457" y="0"/>
                  </a:lnTo>
                  <a:cubicBezTo>
                    <a:pt x="1372730" y="0"/>
                    <a:pt x="1377788" y="2095"/>
                    <a:pt x="1381517" y="5824"/>
                  </a:cubicBezTo>
                  <a:cubicBezTo>
                    <a:pt x="1385246" y="9553"/>
                    <a:pt x="1387341" y="14611"/>
                    <a:pt x="1387341" y="19885"/>
                  </a:cubicBezTo>
                  <a:lnTo>
                    <a:pt x="1387341" y="584790"/>
                  </a:lnTo>
                  <a:cubicBezTo>
                    <a:pt x="1387341" y="595772"/>
                    <a:pt x="1378439" y="604674"/>
                    <a:pt x="1367457" y="604674"/>
                  </a:cubicBezTo>
                  <a:lnTo>
                    <a:pt x="19885" y="604674"/>
                  </a:lnTo>
                  <a:cubicBezTo>
                    <a:pt x="14611" y="604674"/>
                    <a:pt x="9553" y="602579"/>
                    <a:pt x="5824" y="598850"/>
                  </a:cubicBezTo>
                  <a:cubicBezTo>
                    <a:pt x="2095" y="595121"/>
                    <a:pt x="0" y="590064"/>
                    <a:pt x="0" y="584790"/>
                  </a:cubicBezTo>
                  <a:lnTo>
                    <a:pt x="0" y="19885"/>
                  </a:lnTo>
                  <a:cubicBezTo>
                    <a:pt x="0" y="8903"/>
                    <a:pt x="8903" y="0"/>
                    <a:pt x="19885" y="0"/>
                  </a:cubicBezTo>
                  <a:close/>
                </a:path>
              </a:pathLst>
            </a:custGeom>
            <a:blipFill>
              <a:blip r:embed="rId2"/>
              <a:stretch>
                <a:fillRect t="-14098" b="-14098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65185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646131" y="5542792"/>
            <a:ext cx="839884" cy="83988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46131" y="1936143"/>
            <a:ext cx="839884" cy="83988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823517" y="2113529"/>
            <a:ext cx="485112" cy="485112"/>
          </a:xfrm>
          <a:custGeom>
            <a:avLst/>
            <a:gdLst/>
            <a:ahLst/>
            <a:cxnLst/>
            <a:rect l="l" t="t" r="r" b="b"/>
            <a:pathLst>
              <a:path w="485112" h="485112">
                <a:moveTo>
                  <a:pt x="0" y="0"/>
                </a:moveTo>
                <a:lnTo>
                  <a:pt x="485112" y="0"/>
                </a:lnTo>
                <a:lnTo>
                  <a:pt x="485112" y="485113"/>
                </a:lnTo>
                <a:lnTo>
                  <a:pt x="0" y="485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756357" y="5653018"/>
            <a:ext cx="619432" cy="619432"/>
          </a:xfrm>
          <a:custGeom>
            <a:avLst/>
            <a:gdLst/>
            <a:ahLst/>
            <a:cxnLst/>
            <a:rect l="l" t="t" r="r" b="b"/>
            <a:pathLst>
              <a:path w="619432" h="619432">
                <a:moveTo>
                  <a:pt x="0" y="0"/>
                </a:moveTo>
                <a:lnTo>
                  <a:pt x="619432" y="0"/>
                </a:lnTo>
                <a:lnTo>
                  <a:pt x="619432" y="619432"/>
                </a:lnTo>
                <a:lnTo>
                  <a:pt x="0" y="6194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377440" y="2173856"/>
            <a:ext cx="7976544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</a:t>
            </a:r>
          </a:p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Objective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17574" y="2964431"/>
            <a:ext cx="3825475" cy="234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377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Analyze sales data using SQL</a:t>
            </a:r>
          </a:p>
          <a:p>
            <a:pPr marL="453388" lvl="1" indent="-226694" algn="l">
              <a:lnSpc>
                <a:spcPts val="377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Identify key business trends</a:t>
            </a:r>
          </a:p>
          <a:p>
            <a:pPr algn="l">
              <a:lnSpc>
                <a:spcPts val="3779"/>
              </a:lnSpc>
            </a:pPr>
            <a:endParaRPr lang="en-US" sz="2099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646131" y="6508852"/>
            <a:ext cx="3811948" cy="240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88" lvl="1" indent="-226694" algn="l">
              <a:lnSpc>
                <a:spcPts val="3779"/>
              </a:lnSpc>
              <a:buFont typeface="Arial"/>
              <a:buChar char="•"/>
            </a:pPr>
            <a:r>
              <a:rPr lang="en-US" sz="20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Generate actionable insights</a:t>
            </a:r>
          </a:p>
          <a:p>
            <a:pPr marL="453388" lvl="1" indent="-226694" algn="l">
              <a:lnSpc>
                <a:spcPts val="3779"/>
              </a:lnSpc>
              <a:buFont typeface="Arial"/>
              <a:buChar char="•"/>
            </a:pPr>
            <a:r>
              <a:rPr lang="en-US" sz="20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Support data-driven decision making</a:t>
            </a:r>
          </a:p>
          <a:p>
            <a:pPr algn="l">
              <a:lnSpc>
                <a:spcPts val="4319"/>
              </a:lnSpc>
            </a:pPr>
            <a:endParaRPr lang="en-US" sz="2099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014" y="-358767"/>
            <a:ext cx="6154876" cy="1152640"/>
          </a:xfrm>
          <a:custGeom>
            <a:avLst/>
            <a:gdLst/>
            <a:ahLst/>
            <a:cxnLst/>
            <a:rect l="l" t="t" r="r" b="b"/>
            <a:pathLst>
              <a:path w="6154876" h="1152640">
                <a:moveTo>
                  <a:pt x="0" y="0"/>
                </a:moveTo>
                <a:lnTo>
                  <a:pt x="6154876" y="0"/>
                </a:lnTo>
                <a:lnTo>
                  <a:pt x="6154876" y="1152641"/>
                </a:lnTo>
                <a:lnTo>
                  <a:pt x="0" y="115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661561" y="2445958"/>
            <a:ext cx="6539812" cy="2901536"/>
            <a:chOff x="0" y="0"/>
            <a:chExt cx="1722420" cy="7641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2419" cy="764190"/>
            </a:xfrm>
            <a:custGeom>
              <a:avLst/>
              <a:gdLst/>
              <a:ahLst/>
              <a:cxnLst/>
              <a:rect l="l" t="t" r="r" b="b"/>
              <a:pathLst>
                <a:path w="1722419" h="764190">
                  <a:moveTo>
                    <a:pt x="29595" y="0"/>
                  </a:moveTo>
                  <a:lnTo>
                    <a:pt x="1692824" y="0"/>
                  </a:lnTo>
                  <a:cubicBezTo>
                    <a:pt x="1709169" y="0"/>
                    <a:pt x="1722419" y="13250"/>
                    <a:pt x="1722419" y="29595"/>
                  </a:cubicBezTo>
                  <a:lnTo>
                    <a:pt x="1722419" y="734595"/>
                  </a:lnTo>
                  <a:cubicBezTo>
                    <a:pt x="1722419" y="742444"/>
                    <a:pt x="1719301" y="749972"/>
                    <a:pt x="1713751" y="755522"/>
                  </a:cubicBezTo>
                  <a:cubicBezTo>
                    <a:pt x="1708201" y="761072"/>
                    <a:pt x="1700673" y="764190"/>
                    <a:pt x="1692824" y="764190"/>
                  </a:cubicBezTo>
                  <a:lnTo>
                    <a:pt x="29595" y="764190"/>
                  </a:lnTo>
                  <a:cubicBezTo>
                    <a:pt x="21746" y="764190"/>
                    <a:pt x="14218" y="761072"/>
                    <a:pt x="8668" y="755522"/>
                  </a:cubicBezTo>
                  <a:cubicBezTo>
                    <a:pt x="3118" y="749972"/>
                    <a:pt x="0" y="742444"/>
                    <a:pt x="0" y="734595"/>
                  </a:cubicBezTo>
                  <a:lnTo>
                    <a:pt x="0" y="29595"/>
                  </a:lnTo>
                  <a:cubicBezTo>
                    <a:pt x="0" y="21746"/>
                    <a:pt x="3118" y="14218"/>
                    <a:pt x="8668" y="8668"/>
                  </a:cubicBezTo>
                  <a:cubicBezTo>
                    <a:pt x="14218" y="3118"/>
                    <a:pt x="21746" y="0"/>
                    <a:pt x="29595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722420" cy="86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19488" y="5750858"/>
            <a:ext cx="6539812" cy="2901536"/>
            <a:chOff x="0" y="0"/>
            <a:chExt cx="1722420" cy="7641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2419" cy="764190"/>
            </a:xfrm>
            <a:custGeom>
              <a:avLst/>
              <a:gdLst/>
              <a:ahLst/>
              <a:cxnLst/>
              <a:rect l="l" t="t" r="r" b="b"/>
              <a:pathLst>
                <a:path w="1722419" h="764190">
                  <a:moveTo>
                    <a:pt x="29595" y="0"/>
                  </a:moveTo>
                  <a:lnTo>
                    <a:pt x="1692824" y="0"/>
                  </a:lnTo>
                  <a:cubicBezTo>
                    <a:pt x="1709169" y="0"/>
                    <a:pt x="1722419" y="13250"/>
                    <a:pt x="1722419" y="29595"/>
                  </a:cubicBezTo>
                  <a:lnTo>
                    <a:pt x="1722419" y="734595"/>
                  </a:lnTo>
                  <a:cubicBezTo>
                    <a:pt x="1722419" y="742444"/>
                    <a:pt x="1719301" y="749972"/>
                    <a:pt x="1713751" y="755522"/>
                  </a:cubicBezTo>
                  <a:cubicBezTo>
                    <a:pt x="1708201" y="761072"/>
                    <a:pt x="1700673" y="764190"/>
                    <a:pt x="1692824" y="764190"/>
                  </a:cubicBezTo>
                  <a:lnTo>
                    <a:pt x="29595" y="764190"/>
                  </a:lnTo>
                  <a:cubicBezTo>
                    <a:pt x="21746" y="764190"/>
                    <a:pt x="14218" y="761072"/>
                    <a:pt x="8668" y="755522"/>
                  </a:cubicBezTo>
                  <a:cubicBezTo>
                    <a:pt x="3118" y="749972"/>
                    <a:pt x="0" y="742444"/>
                    <a:pt x="0" y="734595"/>
                  </a:cubicBezTo>
                  <a:lnTo>
                    <a:pt x="0" y="29595"/>
                  </a:lnTo>
                  <a:cubicBezTo>
                    <a:pt x="0" y="21746"/>
                    <a:pt x="3118" y="14218"/>
                    <a:pt x="8668" y="8668"/>
                  </a:cubicBezTo>
                  <a:cubicBezTo>
                    <a:pt x="14218" y="3118"/>
                    <a:pt x="21746" y="0"/>
                    <a:pt x="29595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722420" cy="86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911905" y="6212078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960166" y="2850128"/>
            <a:ext cx="2009139" cy="1775348"/>
          </a:xfrm>
          <a:custGeom>
            <a:avLst/>
            <a:gdLst/>
            <a:ahLst/>
            <a:cxnLst/>
            <a:rect l="l" t="t" r="r" b="b"/>
            <a:pathLst>
              <a:path w="2009139" h="1775348">
                <a:moveTo>
                  <a:pt x="0" y="0"/>
                </a:moveTo>
                <a:lnTo>
                  <a:pt x="2009139" y="0"/>
                </a:lnTo>
                <a:lnTo>
                  <a:pt x="2009139" y="1775348"/>
                </a:lnTo>
                <a:lnTo>
                  <a:pt x="0" y="17753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828848" y="2227084"/>
            <a:ext cx="820696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Database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8449" y="7240778"/>
            <a:ext cx="167088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69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18449" y="5750858"/>
            <a:ext cx="2847459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Currency Stability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52222" y="7562412"/>
            <a:ext cx="155326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Economic Growth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28848" y="3294359"/>
            <a:ext cx="8444253" cy="474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Contains customer, product, and sales data</a:t>
            </a:r>
          </a:p>
          <a:p>
            <a:pPr marL="647694" lvl="1" indent="-323847" algn="l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Uses fact and dimension tables</a:t>
            </a:r>
          </a:p>
          <a:p>
            <a:pPr marL="647694" lvl="1" indent="-323847" algn="l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Data is connected using keys (product_code, customer_code)</a:t>
            </a:r>
          </a:p>
          <a:p>
            <a:pPr marL="647694" lvl="1" indent="-323847" algn="l">
              <a:lnSpc>
                <a:spcPts val="5399"/>
              </a:lnSpc>
              <a:buFont typeface="Arial"/>
              <a:buChar char="•"/>
            </a:pPr>
            <a:r>
              <a:rPr lang="en-US" sz="299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Helps in analyzing sales and business performance</a:t>
            </a:r>
          </a:p>
          <a:p>
            <a:pPr algn="l">
              <a:lnSpc>
                <a:spcPts val="5939"/>
              </a:lnSpc>
            </a:pPr>
            <a:endParaRPr lang="en-US" sz="2999">
              <a:solidFill>
                <a:srgbClr val="26262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940867" y="2613871"/>
            <a:ext cx="4776907" cy="254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dim_date</a:t>
            </a: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dim_customer</a:t>
            </a: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fact_sales_monthly</a:t>
            </a:r>
          </a:p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fact_gross_price, fact_manufacturing_cost fact_pre_invoice_deductions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40867" y="5850870"/>
            <a:ext cx="2609832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Fiscal Year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2881" y="6870044"/>
            <a:ext cx="205643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September  To August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014" y="-358767"/>
            <a:ext cx="6154876" cy="1152640"/>
          </a:xfrm>
          <a:custGeom>
            <a:avLst/>
            <a:gdLst/>
            <a:ahLst/>
            <a:cxnLst/>
            <a:rect l="l" t="t" r="r" b="b"/>
            <a:pathLst>
              <a:path w="6154876" h="1152640">
                <a:moveTo>
                  <a:pt x="0" y="0"/>
                </a:moveTo>
                <a:lnTo>
                  <a:pt x="6154876" y="0"/>
                </a:lnTo>
                <a:lnTo>
                  <a:pt x="6154876" y="1152641"/>
                </a:lnTo>
                <a:lnTo>
                  <a:pt x="0" y="115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355" b="-1516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52222" y="7562412"/>
            <a:ext cx="155326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Economic Growth</a:t>
            </a:r>
          </a:p>
        </p:txBody>
      </p:sp>
      <p:sp>
        <p:nvSpPr>
          <p:cNvPr id="7" name="Freeform 7"/>
          <p:cNvSpPr/>
          <p:nvPr/>
        </p:nvSpPr>
        <p:spPr>
          <a:xfrm>
            <a:off x="-1521510" y="-206367"/>
            <a:ext cx="6154876" cy="1152640"/>
          </a:xfrm>
          <a:custGeom>
            <a:avLst/>
            <a:gdLst/>
            <a:ahLst/>
            <a:cxnLst/>
            <a:rect l="l" t="t" r="r" b="b"/>
            <a:pathLst>
              <a:path w="6154876" h="1152640">
                <a:moveTo>
                  <a:pt x="0" y="0"/>
                </a:moveTo>
                <a:lnTo>
                  <a:pt x="6154875" y="0"/>
                </a:lnTo>
                <a:lnTo>
                  <a:pt x="6154875" y="1152641"/>
                </a:lnTo>
                <a:lnTo>
                  <a:pt x="0" y="115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58988" y="476621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83866" y="94107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014" y="-358767"/>
            <a:ext cx="6154876" cy="1152640"/>
          </a:xfrm>
          <a:custGeom>
            <a:avLst/>
            <a:gdLst/>
            <a:ahLst/>
            <a:cxnLst/>
            <a:rect l="l" t="t" r="r" b="b"/>
            <a:pathLst>
              <a:path w="6154876" h="1152640">
                <a:moveTo>
                  <a:pt x="0" y="0"/>
                </a:moveTo>
                <a:lnTo>
                  <a:pt x="6154876" y="0"/>
                </a:lnTo>
                <a:lnTo>
                  <a:pt x="6154876" y="1152641"/>
                </a:lnTo>
                <a:lnTo>
                  <a:pt x="0" y="115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355" b="-1516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21510" y="-206367"/>
            <a:ext cx="6154876" cy="1152640"/>
          </a:xfrm>
          <a:custGeom>
            <a:avLst/>
            <a:gdLst/>
            <a:ahLst/>
            <a:cxnLst/>
            <a:rect l="l" t="t" r="r" b="b"/>
            <a:pathLst>
              <a:path w="6154876" h="1152640">
                <a:moveTo>
                  <a:pt x="0" y="0"/>
                </a:moveTo>
                <a:lnTo>
                  <a:pt x="6154875" y="0"/>
                </a:lnTo>
                <a:lnTo>
                  <a:pt x="6154875" y="1152641"/>
                </a:lnTo>
                <a:lnTo>
                  <a:pt x="0" y="115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58988" y="476621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3"/>
                </a:lnTo>
                <a:lnTo>
                  <a:pt x="0" y="469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83866" y="94107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18359438" cy="10287000"/>
          </a:xfrm>
          <a:custGeom>
            <a:avLst/>
            <a:gdLst/>
            <a:ahLst/>
            <a:cxnLst/>
            <a:rect l="l" t="t" r="r" b="b"/>
            <a:pathLst>
              <a:path w="18359438" h="10287000">
                <a:moveTo>
                  <a:pt x="0" y="0"/>
                </a:moveTo>
                <a:lnTo>
                  <a:pt x="18359438" y="0"/>
                </a:lnTo>
                <a:lnTo>
                  <a:pt x="183594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4" r="-19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95070" y="1263526"/>
            <a:ext cx="6309652" cy="6918286"/>
            <a:chOff x="0" y="0"/>
            <a:chExt cx="1093785" cy="11992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3785" cy="1199292"/>
            </a:xfrm>
            <a:custGeom>
              <a:avLst/>
              <a:gdLst/>
              <a:ahLst/>
              <a:cxnLst/>
              <a:rect l="l" t="t" r="r" b="b"/>
              <a:pathLst>
                <a:path w="1093785" h="1199292">
                  <a:moveTo>
                    <a:pt x="28221" y="0"/>
                  </a:moveTo>
                  <a:lnTo>
                    <a:pt x="1065564" y="0"/>
                  </a:lnTo>
                  <a:cubicBezTo>
                    <a:pt x="1073049" y="0"/>
                    <a:pt x="1080227" y="2973"/>
                    <a:pt x="1085519" y="8266"/>
                  </a:cubicBezTo>
                  <a:cubicBezTo>
                    <a:pt x="1090812" y="13558"/>
                    <a:pt x="1093785" y="20736"/>
                    <a:pt x="1093785" y="28221"/>
                  </a:cubicBezTo>
                  <a:lnTo>
                    <a:pt x="1093785" y="1171071"/>
                  </a:lnTo>
                  <a:cubicBezTo>
                    <a:pt x="1093785" y="1186657"/>
                    <a:pt x="1081150" y="1199292"/>
                    <a:pt x="1065564" y="1199292"/>
                  </a:cubicBezTo>
                  <a:lnTo>
                    <a:pt x="28221" y="1199292"/>
                  </a:lnTo>
                  <a:cubicBezTo>
                    <a:pt x="12635" y="1199292"/>
                    <a:pt x="0" y="1186657"/>
                    <a:pt x="0" y="1171071"/>
                  </a:cubicBezTo>
                  <a:lnTo>
                    <a:pt x="0" y="28221"/>
                  </a:lnTo>
                  <a:cubicBezTo>
                    <a:pt x="0" y="12635"/>
                    <a:pt x="12635" y="0"/>
                    <a:pt x="28221" y="0"/>
                  </a:cubicBezTo>
                  <a:close/>
                </a:path>
              </a:pathLst>
            </a:custGeom>
            <a:blipFill>
              <a:blip r:embed="rId2"/>
              <a:stretch>
                <a:fillRect t="-209" b="-20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2831" y="5095651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7"/>
                </a:lnTo>
                <a:lnTo>
                  <a:pt x="0" y="803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32360" y="2057400"/>
            <a:ext cx="6610419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Provide the list of markets in which customer "Atliq Exclusive" operates its business in the APAC region.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2616" y="4933950"/>
            <a:ext cx="6680163" cy="3247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8"/>
              </a:lnSpc>
            </a:pPr>
            <a:r>
              <a:rPr lang="en-US" sz="3627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select distinct market</a:t>
            </a:r>
          </a:p>
          <a:p>
            <a:pPr algn="l">
              <a:lnSpc>
                <a:spcPts val="6528"/>
              </a:lnSpc>
            </a:pPr>
            <a:r>
              <a:rPr lang="en-US" sz="3627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dim_customer</a:t>
            </a:r>
          </a:p>
          <a:p>
            <a:pPr algn="l">
              <a:lnSpc>
                <a:spcPts val="6528"/>
              </a:lnSpc>
            </a:pPr>
            <a:r>
              <a:rPr lang="en-US" sz="3627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where customer = "Atliq Exclusive" and region = "APAC";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0283" y="1263526"/>
            <a:ext cx="14467112" cy="7552388"/>
          </a:xfrm>
          <a:custGeom>
            <a:avLst/>
            <a:gdLst/>
            <a:ahLst/>
            <a:cxnLst/>
            <a:rect l="l" t="t" r="r" b="b"/>
            <a:pathLst>
              <a:path w="14467112" h="7552388">
                <a:moveTo>
                  <a:pt x="0" y="0"/>
                </a:moveTo>
                <a:lnTo>
                  <a:pt x="14467111" y="0"/>
                </a:lnTo>
                <a:lnTo>
                  <a:pt x="14467111" y="7552388"/>
                </a:lnTo>
                <a:lnTo>
                  <a:pt x="0" y="7552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510" t="-76854" r="-99333" b="-55719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282306" y="5914378"/>
            <a:ext cx="6539812" cy="2901536"/>
            <a:chOff x="0" y="0"/>
            <a:chExt cx="1722420" cy="764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2419" cy="764190"/>
            </a:xfrm>
            <a:custGeom>
              <a:avLst/>
              <a:gdLst/>
              <a:ahLst/>
              <a:cxnLst/>
              <a:rect l="l" t="t" r="r" b="b"/>
              <a:pathLst>
                <a:path w="1722419" h="764190">
                  <a:moveTo>
                    <a:pt x="29595" y="0"/>
                  </a:moveTo>
                  <a:lnTo>
                    <a:pt x="1692824" y="0"/>
                  </a:lnTo>
                  <a:cubicBezTo>
                    <a:pt x="1709169" y="0"/>
                    <a:pt x="1722419" y="13250"/>
                    <a:pt x="1722419" y="29595"/>
                  </a:cubicBezTo>
                  <a:lnTo>
                    <a:pt x="1722419" y="734595"/>
                  </a:lnTo>
                  <a:cubicBezTo>
                    <a:pt x="1722419" y="742444"/>
                    <a:pt x="1719301" y="749972"/>
                    <a:pt x="1713751" y="755522"/>
                  </a:cubicBezTo>
                  <a:cubicBezTo>
                    <a:pt x="1708201" y="761072"/>
                    <a:pt x="1700673" y="764190"/>
                    <a:pt x="1692824" y="764190"/>
                  </a:cubicBezTo>
                  <a:lnTo>
                    <a:pt x="29595" y="764190"/>
                  </a:lnTo>
                  <a:cubicBezTo>
                    <a:pt x="21746" y="764190"/>
                    <a:pt x="14218" y="761072"/>
                    <a:pt x="8668" y="755522"/>
                  </a:cubicBezTo>
                  <a:cubicBezTo>
                    <a:pt x="3118" y="749972"/>
                    <a:pt x="0" y="742444"/>
                    <a:pt x="0" y="734595"/>
                  </a:cubicBezTo>
                  <a:lnTo>
                    <a:pt x="0" y="29595"/>
                  </a:lnTo>
                  <a:cubicBezTo>
                    <a:pt x="0" y="21746"/>
                    <a:pt x="3118" y="14218"/>
                    <a:pt x="8668" y="8668"/>
                  </a:cubicBezTo>
                  <a:cubicBezTo>
                    <a:pt x="14218" y="3118"/>
                    <a:pt x="21746" y="0"/>
                    <a:pt x="29595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722420" cy="86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536308" y="5970611"/>
            <a:ext cx="1326381" cy="1194223"/>
          </a:xfrm>
          <a:custGeom>
            <a:avLst/>
            <a:gdLst/>
            <a:ahLst/>
            <a:cxnLst/>
            <a:rect l="l" t="t" r="r" b="b"/>
            <a:pathLst>
              <a:path w="1326381" h="1194223">
                <a:moveTo>
                  <a:pt x="0" y="0"/>
                </a:moveTo>
                <a:lnTo>
                  <a:pt x="1326381" y="0"/>
                </a:lnTo>
                <a:lnTo>
                  <a:pt x="1326381" y="1194223"/>
                </a:lnTo>
                <a:lnTo>
                  <a:pt x="0" y="1194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36308" y="7107684"/>
            <a:ext cx="6031808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Atliq Exclusive operates in 7 markets across the APAC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71916" y="1570376"/>
            <a:ext cx="8387384" cy="3404870"/>
            <a:chOff x="0" y="0"/>
            <a:chExt cx="2356279" cy="956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6279" cy="956534"/>
            </a:xfrm>
            <a:custGeom>
              <a:avLst/>
              <a:gdLst/>
              <a:ahLst/>
              <a:cxnLst/>
              <a:rect l="l" t="t" r="r" b="b"/>
              <a:pathLst>
                <a:path w="2356279" h="956534">
                  <a:moveTo>
                    <a:pt x="21230" y="0"/>
                  </a:moveTo>
                  <a:lnTo>
                    <a:pt x="2335049" y="0"/>
                  </a:lnTo>
                  <a:cubicBezTo>
                    <a:pt x="2340679" y="0"/>
                    <a:pt x="2346079" y="2237"/>
                    <a:pt x="2350061" y="6218"/>
                  </a:cubicBezTo>
                  <a:cubicBezTo>
                    <a:pt x="2354042" y="10200"/>
                    <a:pt x="2356279" y="15599"/>
                    <a:pt x="2356279" y="21230"/>
                  </a:cubicBezTo>
                  <a:lnTo>
                    <a:pt x="2356279" y="935304"/>
                  </a:lnTo>
                  <a:cubicBezTo>
                    <a:pt x="2356279" y="940935"/>
                    <a:pt x="2354042" y="946335"/>
                    <a:pt x="2350061" y="950316"/>
                  </a:cubicBezTo>
                  <a:cubicBezTo>
                    <a:pt x="2346079" y="954298"/>
                    <a:pt x="2340679" y="956534"/>
                    <a:pt x="2335049" y="956534"/>
                  </a:cubicBezTo>
                  <a:lnTo>
                    <a:pt x="21230" y="956534"/>
                  </a:lnTo>
                  <a:cubicBezTo>
                    <a:pt x="15599" y="956534"/>
                    <a:pt x="10200" y="954298"/>
                    <a:pt x="6218" y="950316"/>
                  </a:cubicBezTo>
                  <a:cubicBezTo>
                    <a:pt x="2237" y="946335"/>
                    <a:pt x="0" y="940935"/>
                    <a:pt x="0" y="935304"/>
                  </a:cubicBezTo>
                  <a:lnTo>
                    <a:pt x="0" y="21230"/>
                  </a:lnTo>
                  <a:cubicBezTo>
                    <a:pt x="0" y="15599"/>
                    <a:pt x="2237" y="10200"/>
                    <a:pt x="6218" y="6218"/>
                  </a:cubicBezTo>
                  <a:cubicBezTo>
                    <a:pt x="10200" y="2237"/>
                    <a:pt x="15599" y="0"/>
                    <a:pt x="21230" y="0"/>
                  </a:cubicBezTo>
                  <a:close/>
                </a:path>
              </a:pathLst>
            </a:custGeom>
            <a:blipFill>
              <a:blip r:embed="rId2"/>
              <a:stretch>
                <a:fillRect t="-5601" b="-560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2831" y="5491162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62616" y="1452563"/>
            <a:ext cx="6610419" cy="379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What is the percentage of unique product increase in 2021 vs. 2020? The final output contains these fields</a:t>
            </a:r>
          </a:p>
          <a:p>
            <a:pPr algn="l">
              <a:lnSpc>
                <a:spcPts val="3719"/>
              </a:lnSpc>
            </a:pPr>
            <a:endParaRPr lang="en-US" sz="3099" b="1" dirty="0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algn="l">
              <a:lnSpc>
                <a:spcPts val="3719"/>
              </a:lnSpc>
            </a:pPr>
            <a:r>
              <a:rPr lang="en-US" sz="3099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unique_products_2020 unique_products_2021</a:t>
            </a:r>
          </a:p>
          <a:p>
            <a:pPr algn="l">
              <a:lnSpc>
                <a:spcPts val="3719"/>
              </a:lnSpc>
            </a:pPr>
            <a:r>
              <a:rPr lang="en-US" sz="3099" b="1" dirty="0" err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percentage_chg</a:t>
            </a:r>
            <a:r>
              <a:rPr lang="en-US" sz="3099" b="1" dirty="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2616" y="5367337"/>
            <a:ext cx="15086559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with unique_product_table as (SELECT 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count(case when fiscal_year = '2020' then product  end) as unique_product_2020,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count(case when fiscal_year = '2021' then product  end) as unique_product_2021 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dim_product d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join fact_gross_price f on f.product_code = d.product_code)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select *,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round((unique_product_2021 - unique_product_2020)/unique_product_2020*100,2) as perc_chg</a:t>
            </a:r>
          </a:p>
          <a:p>
            <a:pPr algn="l">
              <a:lnSpc>
                <a:spcPts val="3600"/>
              </a:lnSpc>
            </a:pPr>
            <a:r>
              <a:rPr lang="en-US" sz="200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unique_product_table;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661561" y="2348223"/>
            <a:ext cx="6539812" cy="5590555"/>
            <a:chOff x="0" y="0"/>
            <a:chExt cx="1722420" cy="1472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2419" cy="1472409"/>
            </a:xfrm>
            <a:custGeom>
              <a:avLst/>
              <a:gdLst/>
              <a:ahLst/>
              <a:cxnLst/>
              <a:rect l="l" t="t" r="r" b="b"/>
              <a:pathLst>
                <a:path w="1722419" h="1472409">
                  <a:moveTo>
                    <a:pt x="29595" y="0"/>
                  </a:moveTo>
                  <a:lnTo>
                    <a:pt x="1692824" y="0"/>
                  </a:lnTo>
                  <a:cubicBezTo>
                    <a:pt x="1709169" y="0"/>
                    <a:pt x="1722419" y="13250"/>
                    <a:pt x="1722419" y="29595"/>
                  </a:cubicBezTo>
                  <a:lnTo>
                    <a:pt x="1722419" y="1442814"/>
                  </a:lnTo>
                  <a:cubicBezTo>
                    <a:pt x="1722419" y="1450663"/>
                    <a:pt x="1719301" y="1458191"/>
                    <a:pt x="1713751" y="1463741"/>
                  </a:cubicBezTo>
                  <a:cubicBezTo>
                    <a:pt x="1708201" y="1469291"/>
                    <a:pt x="1700673" y="1472409"/>
                    <a:pt x="1692824" y="1472409"/>
                  </a:cubicBezTo>
                  <a:lnTo>
                    <a:pt x="29595" y="1472409"/>
                  </a:lnTo>
                  <a:cubicBezTo>
                    <a:pt x="21746" y="1472409"/>
                    <a:pt x="14218" y="1469291"/>
                    <a:pt x="8668" y="1463741"/>
                  </a:cubicBezTo>
                  <a:cubicBezTo>
                    <a:pt x="3118" y="1458191"/>
                    <a:pt x="0" y="1450663"/>
                    <a:pt x="0" y="1442814"/>
                  </a:cubicBezTo>
                  <a:lnTo>
                    <a:pt x="0" y="29595"/>
                  </a:lnTo>
                  <a:cubicBezTo>
                    <a:pt x="0" y="21746"/>
                    <a:pt x="3118" y="14218"/>
                    <a:pt x="8668" y="8668"/>
                  </a:cubicBezTo>
                  <a:cubicBezTo>
                    <a:pt x="14218" y="3118"/>
                    <a:pt x="21746" y="0"/>
                    <a:pt x="29595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722420" cy="1577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915562" y="2690137"/>
            <a:ext cx="1879105" cy="1691876"/>
          </a:xfrm>
          <a:custGeom>
            <a:avLst/>
            <a:gdLst/>
            <a:ahLst/>
            <a:cxnLst/>
            <a:rect l="l" t="t" r="r" b="b"/>
            <a:pathLst>
              <a:path w="1879105" h="1691876">
                <a:moveTo>
                  <a:pt x="0" y="0"/>
                </a:moveTo>
                <a:lnTo>
                  <a:pt x="1879106" y="0"/>
                </a:lnTo>
                <a:lnTo>
                  <a:pt x="1879106" y="1691876"/>
                </a:lnTo>
                <a:lnTo>
                  <a:pt x="0" y="169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55927" y="1399427"/>
            <a:ext cx="7666334" cy="7488146"/>
          </a:xfrm>
          <a:custGeom>
            <a:avLst/>
            <a:gdLst/>
            <a:ahLst/>
            <a:cxnLst/>
            <a:rect l="l" t="t" r="r" b="b"/>
            <a:pathLst>
              <a:path w="7666334" h="7488146">
                <a:moveTo>
                  <a:pt x="0" y="0"/>
                </a:moveTo>
                <a:lnTo>
                  <a:pt x="7666334" y="0"/>
                </a:lnTo>
                <a:lnTo>
                  <a:pt x="7666334" y="7488146"/>
                </a:lnTo>
                <a:lnTo>
                  <a:pt x="0" y="74881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050" t="-52510" r="-214690" b="-3968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15562" y="4637539"/>
            <a:ext cx="6031808" cy="2472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observed a 36% increase in unique products in 2021, showing strong expansion in </a:t>
            </a:r>
            <a:r>
              <a:rPr lang="en-US" sz="34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Atliq’s</a:t>
            </a:r>
            <a:r>
              <a:rPr lang="en-US" sz="3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product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78248" y="2044779"/>
            <a:ext cx="7972130" cy="5485991"/>
            <a:chOff x="0" y="0"/>
            <a:chExt cx="2356279" cy="1621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6279" cy="1621464"/>
            </a:xfrm>
            <a:custGeom>
              <a:avLst/>
              <a:gdLst/>
              <a:ahLst/>
              <a:cxnLst/>
              <a:rect l="l" t="t" r="r" b="b"/>
              <a:pathLst>
                <a:path w="2356279" h="1621464">
                  <a:moveTo>
                    <a:pt x="22336" y="0"/>
                  </a:moveTo>
                  <a:lnTo>
                    <a:pt x="2333943" y="0"/>
                  </a:lnTo>
                  <a:cubicBezTo>
                    <a:pt x="2346278" y="0"/>
                    <a:pt x="2356279" y="10000"/>
                    <a:pt x="2356279" y="22336"/>
                  </a:cubicBezTo>
                  <a:lnTo>
                    <a:pt x="2356279" y="1599128"/>
                  </a:lnTo>
                  <a:cubicBezTo>
                    <a:pt x="2356279" y="1605052"/>
                    <a:pt x="2353926" y="1610733"/>
                    <a:pt x="2349737" y="1614922"/>
                  </a:cubicBezTo>
                  <a:cubicBezTo>
                    <a:pt x="2345548" y="1619111"/>
                    <a:pt x="2339867" y="1621464"/>
                    <a:pt x="2333943" y="1621464"/>
                  </a:cubicBezTo>
                  <a:lnTo>
                    <a:pt x="22336" y="1621464"/>
                  </a:lnTo>
                  <a:cubicBezTo>
                    <a:pt x="16412" y="1621464"/>
                    <a:pt x="10731" y="1619111"/>
                    <a:pt x="6542" y="1614922"/>
                  </a:cubicBezTo>
                  <a:cubicBezTo>
                    <a:pt x="2353" y="1610733"/>
                    <a:pt x="0" y="1605052"/>
                    <a:pt x="0" y="1599128"/>
                  </a:cubicBezTo>
                  <a:lnTo>
                    <a:pt x="0" y="22336"/>
                  </a:lnTo>
                  <a:cubicBezTo>
                    <a:pt x="0" y="16412"/>
                    <a:pt x="2353" y="10731"/>
                    <a:pt x="6542" y="6542"/>
                  </a:cubicBezTo>
                  <a:cubicBezTo>
                    <a:pt x="10731" y="2353"/>
                    <a:pt x="16412" y="0"/>
                    <a:pt x="22336" y="0"/>
                  </a:cubicBezTo>
                  <a:close/>
                </a:path>
              </a:pathLst>
            </a:custGeom>
            <a:blipFill>
              <a:blip r:embed="rId2"/>
              <a:stretch>
                <a:fillRect l="-3620" r="-362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2870" y="589870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7" y="0"/>
                </a:lnTo>
                <a:lnTo>
                  <a:pt x="803057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82196" y="1596804"/>
            <a:ext cx="6610419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Provide a report with all the unique product counts for each segment and sort them in descending order of product counts. The final output contains 2 fields, </a:t>
            </a:r>
          </a:p>
          <a:p>
            <a:pPr algn="l">
              <a:lnSpc>
                <a:spcPts val="3719"/>
              </a:lnSpc>
            </a:pPr>
            <a:endParaRPr lang="en-US" sz="3099" b="1">
              <a:solidFill>
                <a:srgbClr val="000000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segment </a:t>
            </a:r>
          </a:p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product_count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2196" y="5746308"/>
            <a:ext cx="6971259" cy="3039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2"/>
              </a:lnSpc>
            </a:pPr>
            <a:r>
              <a:rPr lang="en-US" sz="274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select segment , count(product) as product_count</a:t>
            </a:r>
          </a:p>
          <a:p>
            <a:pPr algn="l">
              <a:lnSpc>
                <a:spcPts val="4932"/>
              </a:lnSpc>
            </a:pPr>
            <a:r>
              <a:rPr lang="en-US" sz="274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from dim_product</a:t>
            </a:r>
          </a:p>
          <a:p>
            <a:pPr algn="l">
              <a:lnSpc>
                <a:spcPts val="4932"/>
              </a:lnSpc>
            </a:pPr>
            <a:r>
              <a:rPr lang="en-US" sz="274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group by segment</a:t>
            </a:r>
          </a:p>
          <a:p>
            <a:pPr algn="l">
              <a:lnSpc>
                <a:spcPts val="4932"/>
              </a:lnSpc>
            </a:pPr>
            <a:r>
              <a:rPr lang="en-US" sz="274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order by product_count desc;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890207"/>
            <a:ext cx="11009477" cy="5684955"/>
          </a:xfrm>
          <a:custGeom>
            <a:avLst/>
            <a:gdLst/>
            <a:ahLst/>
            <a:cxnLst/>
            <a:rect l="l" t="t" r="r" b="b"/>
            <a:pathLst>
              <a:path w="11009477" h="5684955">
                <a:moveTo>
                  <a:pt x="0" y="0"/>
                </a:moveTo>
                <a:lnTo>
                  <a:pt x="11009477" y="0"/>
                </a:lnTo>
                <a:lnTo>
                  <a:pt x="11009477" y="5684955"/>
                </a:lnTo>
                <a:lnTo>
                  <a:pt x="0" y="5684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5474" t="-79600" r="-99487" b="-15260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271280" y="5825830"/>
            <a:ext cx="5988020" cy="2901536"/>
            <a:chOff x="0" y="0"/>
            <a:chExt cx="1577092" cy="764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7092" cy="764190"/>
            </a:xfrm>
            <a:custGeom>
              <a:avLst/>
              <a:gdLst/>
              <a:ahLst/>
              <a:cxnLst/>
              <a:rect l="l" t="t" r="r" b="b"/>
              <a:pathLst>
                <a:path w="1577092" h="764190">
                  <a:moveTo>
                    <a:pt x="32323" y="0"/>
                  </a:moveTo>
                  <a:lnTo>
                    <a:pt x="1544769" y="0"/>
                  </a:lnTo>
                  <a:cubicBezTo>
                    <a:pt x="1553342" y="0"/>
                    <a:pt x="1561563" y="3405"/>
                    <a:pt x="1567625" y="9467"/>
                  </a:cubicBezTo>
                  <a:cubicBezTo>
                    <a:pt x="1573686" y="15529"/>
                    <a:pt x="1577092" y="23750"/>
                    <a:pt x="1577092" y="32323"/>
                  </a:cubicBezTo>
                  <a:lnTo>
                    <a:pt x="1577092" y="731868"/>
                  </a:lnTo>
                  <a:cubicBezTo>
                    <a:pt x="1577092" y="740440"/>
                    <a:pt x="1573686" y="748662"/>
                    <a:pt x="1567625" y="754723"/>
                  </a:cubicBezTo>
                  <a:cubicBezTo>
                    <a:pt x="1561563" y="760785"/>
                    <a:pt x="1553342" y="764190"/>
                    <a:pt x="1544769" y="764190"/>
                  </a:cubicBezTo>
                  <a:lnTo>
                    <a:pt x="32323" y="764190"/>
                  </a:lnTo>
                  <a:cubicBezTo>
                    <a:pt x="23750" y="764190"/>
                    <a:pt x="15529" y="760785"/>
                    <a:pt x="9467" y="754723"/>
                  </a:cubicBezTo>
                  <a:cubicBezTo>
                    <a:pt x="3405" y="748662"/>
                    <a:pt x="0" y="740440"/>
                    <a:pt x="0" y="731868"/>
                  </a:cubicBezTo>
                  <a:lnTo>
                    <a:pt x="0" y="32323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3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1577092" cy="86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593696" y="6081357"/>
            <a:ext cx="5343188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product variety in key segments indicates strong focus and opportunity for targeted strategies.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6780" y="2189854"/>
            <a:ext cx="1262468" cy="1136678"/>
          </a:xfrm>
          <a:custGeom>
            <a:avLst/>
            <a:gdLst/>
            <a:ahLst/>
            <a:cxnLst/>
            <a:rect l="l" t="t" r="r" b="b"/>
            <a:pathLst>
              <a:path w="1262468" h="1136678">
                <a:moveTo>
                  <a:pt x="0" y="0"/>
                </a:moveTo>
                <a:lnTo>
                  <a:pt x="1262468" y="0"/>
                </a:lnTo>
                <a:lnTo>
                  <a:pt x="1262468" y="1136679"/>
                </a:lnTo>
                <a:lnTo>
                  <a:pt x="0" y="11366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1369" y="0"/>
            <a:ext cx="18410738" cy="10287000"/>
          </a:xfrm>
          <a:custGeom>
            <a:avLst/>
            <a:gdLst/>
            <a:ahLst/>
            <a:cxnLst/>
            <a:rect l="l" t="t" r="r" b="b"/>
            <a:pathLst>
              <a:path w="18410738" h="10287000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5040" y="1064628"/>
            <a:ext cx="11163836" cy="4366077"/>
            <a:chOff x="0" y="0"/>
            <a:chExt cx="4376240" cy="17115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6240" cy="1711509"/>
            </a:xfrm>
            <a:custGeom>
              <a:avLst/>
              <a:gdLst/>
              <a:ahLst/>
              <a:cxnLst/>
              <a:rect l="l" t="t" r="r" b="b"/>
              <a:pathLst>
                <a:path w="4376240" h="1711509">
                  <a:moveTo>
                    <a:pt x="15950" y="0"/>
                  </a:moveTo>
                  <a:lnTo>
                    <a:pt x="4360290" y="0"/>
                  </a:lnTo>
                  <a:cubicBezTo>
                    <a:pt x="4364520" y="0"/>
                    <a:pt x="4368578" y="1680"/>
                    <a:pt x="4371568" y="4672"/>
                  </a:cubicBezTo>
                  <a:cubicBezTo>
                    <a:pt x="4374560" y="7663"/>
                    <a:pt x="4376240" y="11720"/>
                    <a:pt x="4376240" y="15950"/>
                  </a:cubicBezTo>
                  <a:lnTo>
                    <a:pt x="4376240" y="1695559"/>
                  </a:lnTo>
                  <a:cubicBezTo>
                    <a:pt x="4376240" y="1704368"/>
                    <a:pt x="4369099" y="1711509"/>
                    <a:pt x="4360290" y="1711509"/>
                  </a:cubicBezTo>
                  <a:lnTo>
                    <a:pt x="15950" y="1711509"/>
                  </a:lnTo>
                  <a:cubicBezTo>
                    <a:pt x="11720" y="1711509"/>
                    <a:pt x="7663" y="1709828"/>
                    <a:pt x="4672" y="1706837"/>
                  </a:cubicBezTo>
                  <a:cubicBezTo>
                    <a:pt x="1680" y="1703846"/>
                    <a:pt x="0" y="1699789"/>
                    <a:pt x="0" y="1695559"/>
                  </a:cubicBezTo>
                  <a:lnTo>
                    <a:pt x="0" y="15950"/>
                  </a:lnTo>
                  <a:cubicBezTo>
                    <a:pt x="0" y="11720"/>
                    <a:pt x="1680" y="7663"/>
                    <a:pt x="4672" y="4672"/>
                  </a:cubicBezTo>
                  <a:cubicBezTo>
                    <a:pt x="7663" y="1680"/>
                    <a:pt x="11720" y="0"/>
                    <a:pt x="15950" y="0"/>
                  </a:cubicBezTo>
                  <a:close/>
                </a:path>
              </a:pathLst>
            </a:custGeom>
            <a:blipFill>
              <a:blip r:embed="rId2"/>
              <a:stretch>
                <a:fillRect l="-3775" r="-377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171" y="5029176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82196" y="1872636"/>
            <a:ext cx="6610419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Which segment had the most increase in unique products in 2021 vs 2020? The final output contains these fields,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segment 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product_count_2020 product_count_2021 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difference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2196" y="4933926"/>
            <a:ext cx="8877805" cy="4324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with uni_pro_tab as (SELECT segment,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count(case when fiscal_year = '2020' then product  end) as unique_product_2020,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count(case when fiscal_year = '2021' then product  end) as unique_product_2021 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dim_product d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join fact_gross_price f on f.product_code = d.product_code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group by segment)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select *,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unique_product_2021 - unique_product_2020 as difference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uni_pro_tab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order by segment asc ,difference desc;</a:t>
            </a:r>
          </a:p>
          <a:p>
            <a:pPr algn="l">
              <a:lnSpc>
                <a:spcPts val="3186"/>
              </a:lnSpc>
            </a:pPr>
            <a:r>
              <a:rPr lang="en-US" sz="17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271280" y="5825830"/>
            <a:ext cx="5988020" cy="2901536"/>
            <a:chOff x="0" y="0"/>
            <a:chExt cx="1577092" cy="7641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7092" cy="764190"/>
            </a:xfrm>
            <a:custGeom>
              <a:avLst/>
              <a:gdLst/>
              <a:ahLst/>
              <a:cxnLst/>
              <a:rect l="l" t="t" r="r" b="b"/>
              <a:pathLst>
                <a:path w="1577092" h="764190">
                  <a:moveTo>
                    <a:pt x="32323" y="0"/>
                  </a:moveTo>
                  <a:lnTo>
                    <a:pt x="1544769" y="0"/>
                  </a:lnTo>
                  <a:cubicBezTo>
                    <a:pt x="1553342" y="0"/>
                    <a:pt x="1561563" y="3405"/>
                    <a:pt x="1567625" y="9467"/>
                  </a:cubicBezTo>
                  <a:cubicBezTo>
                    <a:pt x="1573686" y="15529"/>
                    <a:pt x="1577092" y="23750"/>
                    <a:pt x="1577092" y="32323"/>
                  </a:cubicBezTo>
                  <a:lnTo>
                    <a:pt x="1577092" y="731868"/>
                  </a:lnTo>
                  <a:cubicBezTo>
                    <a:pt x="1577092" y="740440"/>
                    <a:pt x="1573686" y="748662"/>
                    <a:pt x="1567625" y="754723"/>
                  </a:cubicBezTo>
                  <a:cubicBezTo>
                    <a:pt x="1561563" y="760785"/>
                    <a:pt x="1553342" y="764190"/>
                    <a:pt x="1544769" y="764190"/>
                  </a:cubicBezTo>
                  <a:lnTo>
                    <a:pt x="32323" y="764190"/>
                  </a:lnTo>
                  <a:cubicBezTo>
                    <a:pt x="23750" y="764190"/>
                    <a:pt x="15529" y="760785"/>
                    <a:pt x="9467" y="754723"/>
                  </a:cubicBezTo>
                  <a:cubicBezTo>
                    <a:pt x="3405" y="748662"/>
                    <a:pt x="0" y="740440"/>
                    <a:pt x="0" y="731868"/>
                  </a:cubicBezTo>
                  <a:lnTo>
                    <a:pt x="0" y="32323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3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1577092" cy="86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71280" y="6130382"/>
            <a:ext cx="5988020" cy="2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5"/>
              </a:lnSpc>
            </a:pPr>
            <a:r>
              <a:rPr lang="en-US" sz="31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2021, the highest increase in unique products was observed in Accessories, Notebook, and Peripherals segments.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7171" y="5029176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882161"/>
            <a:ext cx="16115788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Get the products that have the highest and lowest manufacturing costs. The final output should contain these fields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product_code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manufacturing_cost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2196" y="4876776"/>
            <a:ext cx="8877805" cy="402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select p.product_code,p.product,manufacturing_cost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from fact_manufacturing_cost m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join dim_product p on p.product_code = m.product_code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where manufacturing_cost in ((select max(manufacturing_cost)from fact_manufacturing_cost),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(select min(manufacturing_cost)from fact_manufacturing_cost));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9922" y="1556218"/>
            <a:ext cx="17488155" cy="3141035"/>
          </a:xfrm>
          <a:custGeom>
            <a:avLst/>
            <a:gdLst/>
            <a:ahLst/>
            <a:cxnLst/>
            <a:rect l="l" t="t" r="r" b="b"/>
            <a:pathLst>
              <a:path w="17488155" h="3141035">
                <a:moveTo>
                  <a:pt x="0" y="0"/>
                </a:moveTo>
                <a:lnTo>
                  <a:pt x="17488156" y="0"/>
                </a:lnTo>
                <a:lnTo>
                  <a:pt x="17488156" y="3141035"/>
                </a:lnTo>
                <a:lnTo>
                  <a:pt x="0" y="3141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475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2831" y="6215946"/>
            <a:ext cx="3106190" cy="2179981"/>
          </a:xfrm>
          <a:custGeom>
            <a:avLst/>
            <a:gdLst/>
            <a:ahLst/>
            <a:cxnLst/>
            <a:rect l="l" t="t" r="r" b="b"/>
            <a:pathLst>
              <a:path w="3106190" h="2179981">
                <a:moveTo>
                  <a:pt x="0" y="0"/>
                </a:moveTo>
                <a:lnTo>
                  <a:pt x="3106190" y="0"/>
                </a:lnTo>
                <a:lnTo>
                  <a:pt x="3106190" y="2179981"/>
                </a:lnTo>
                <a:lnTo>
                  <a:pt x="0" y="2179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79752" y="6215946"/>
            <a:ext cx="1430584" cy="2109440"/>
          </a:xfrm>
          <a:custGeom>
            <a:avLst/>
            <a:gdLst/>
            <a:ahLst/>
            <a:cxnLst/>
            <a:rect l="l" t="t" r="r" b="b"/>
            <a:pathLst>
              <a:path w="1430584" h="2109440">
                <a:moveTo>
                  <a:pt x="0" y="0"/>
                </a:moveTo>
                <a:lnTo>
                  <a:pt x="1430584" y="0"/>
                </a:lnTo>
                <a:lnTo>
                  <a:pt x="1430584" y="2109441"/>
                </a:lnTo>
                <a:lnTo>
                  <a:pt x="0" y="2109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15181" y="6512019"/>
            <a:ext cx="1813368" cy="1813368"/>
          </a:xfrm>
          <a:custGeom>
            <a:avLst/>
            <a:gdLst/>
            <a:ahLst/>
            <a:cxnLst/>
            <a:rect l="l" t="t" r="r" b="b"/>
            <a:pathLst>
              <a:path w="1813368" h="1813368">
                <a:moveTo>
                  <a:pt x="0" y="0"/>
                </a:moveTo>
                <a:lnTo>
                  <a:pt x="1813368" y="0"/>
                </a:lnTo>
                <a:lnTo>
                  <a:pt x="1813368" y="1813368"/>
                </a:lnTo>
                <a:lnTo>
                  <a:pt x="0" y="1813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833788" y="5214332"/>
            <a:ext cx="6539812" cy="3526889"/>
            <a:chOff x="0" y="0"/>
            <a:chExt cx="1722420" cy="9288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2419" cy="928893"/>
            </a:xfrm>
            <a:custGeom>
              <a:avLst/>
              <a:gdLst/>
              <a:ahLst/>
              <a:cxnLst/>
              <a:rect l="l" t="t" r="r" b="b"/>
              <a:pathLst>
                <a:path w="1722419" h="928893">
                  <a:moveTo>
                    <a:pt x="29595" y="0"/>
                  </a:moveTo>
                  <a:lnTo>
                    <a:pt x="1692824" y="0"/>
                  </a:lnTo>
                  <a:cubicBezTo>
                    <a:pt x="1709169" y="0"/>
                    <a:pt x="1722419" y="13250"/>
                    <a:pt x="1722419" y="29595"/>
                  </a:cubicBezTo>
                  <a:lnTo>
                    <a:pt x="1722419" y="899297"/>
                  </a:lnTo>
                  <a:cubicBezTo>
                    <a:pt x="1722419" y="907146"/>
                    <a:pt x="1719301" y="914674"/>
                    <a:pt x="1713751" y="920224"/>
                  </a:cubicBezTo>
                  <a:cubicBezTo>
                    <a:pt x="1708201" y="925774"/>
                    <a:pt x="1700673" y="928893"/>
                    <a:pt x="1692824" y="928893"/>
                  </a:cubicBezTo>
                  <a:lnTo>
                    <a:pt x="29595" y="928893"/>
                  </a:lnTo>
                  <a:cubicBezTo>
                    <a:pt x="13250" y="928893"/>
                    <a:pt x="0" y="915642"/>
                    <a:pt x="0" y="899297"/>
                  </a:cubicBezTo>
                  <a:lnTo>
                    <a:pt x="0" y="29595"/>
                  </a:lnTo>
                  <a:cubicBezTo>
                    <a:pt x="0" y="21746"/>
                    <a:pt x="3118" y="14218"/>
                    <a:pt x="8668" y="8668"/>
                  </a:cubicBezTo>
                  <a:cubicBezTo>
                    <a:pt x="14218" y="3118"/>
                    <a:pt x="21746" y="0"/>
                    <a:pt x="29595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722420" cy="1033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77733" y="6231888"/>
            <a:ext cx="5851923" cy="230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Low-cost accessories can be used to enhance the value of high-cost products through bundling.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177733" y="5337561"/>
            <a:ext cx="1067350" cy="961002"/>
          </a:xfrm>
          <a:custGeom>
            <a:avLst/>
            <a:gdLst/>
            <a:ahLst/>
            <a:cxnLst/>
            <a:rect l="l" t="t" r="r" b="b"/>
            <a:pathLst>
              <a:path w="1067350" h="961002">
                <a:moveTo>
                  <a:pt x="0" y="0"/>
                </a:moveTo>
                <a:lnTo>
                  <a:pt x="1067350" y="0"/>
                </a:lnTo>
                <a:lnTo>
                  <a:pt x="1067350" y="961002"/>
                </a:lnTo>
                <a:lnTo>
                  <a:pt x="0" y="961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69301" y="8684071"/>
            <a:ext cx="404574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D759C"/>
                </a:solidFill>
                <a:latin typeface="Canva Sans"/>
                <a:ea typeface="Canva Sans"/>
                <a:cs typeface="Canva Sans"/>
                <a:sym typeface="Canva Sans"/>
              </a:rPr>
              <a:t>AQ HOME Allin1 Gen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2612" y="8684071"/>
            <a:ext cx="414486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D759C"/>
                </a:solidFill>
                <a:latin typeface="Canva Sans"/>
                <a:ea typeface="Canva Sans"/>
                <a:cs typeface="Canva Sans"/>
                <a:sym typeface="Canva Sans"/>
              </a:rPr>
              <a:t>AQ Master wired x1 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7171" y="459142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882161"/>
            <a:ext cx="14740011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Generate a report which contains the top 5 customers who received an average high pre_invoice_discount_pct for the fiscal year 2021 and in the Indian market. The final output contains these fields, customer_code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customer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average_discount_percentage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2196" y="4439028"/>
            <a:ext cx="12149270" cy="518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select c.customer_code ,c.customer,f.pre_invoice_discount_pct as average_discount_percentage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 from fact_pre_invoice_deductions f 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join dim_customer c  on c.customer_code = f.customer_code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where f.fiscal_year = '2021' and c.market = 'india'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and pre_invoice_discount_pct &gt; (select avg(pre_invoice_discount_pct)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from fact_pre_invoice_deductions )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order by average_discount_percentage desc </a:t>
            </a:r>
          </a:p>
          <a:p>
            <a:pPr algn="l">
              <a:lnSpc>
                <a:spcPts val="4626"/>
              </a:lnSpc>
            </a:pPr>
            <a:r>
              <a:rPr lang="en-US" sz="2570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limit 5 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59953" y="1028700"/>
            <a:ext cx="6943027" cy="3220244"/>
          </a:xfrm>
          <a:custGeom>
            <a:avLst/>
            <a:gdLst/>
            <a:ahLst/>
            <a:cxnLst/>
            <a:rect l="l" t="t" r="r" b="b"/>
            <a:pathLst>
              <a:path w="6943027" h="3220244">
                <a:moveTo>
                  <a:pt x="0" y="0"/>
                </a:moveTo>
                <a:lnTo>
                  <a:pt x="6943027" y="0"/>
                </a:lnTo>
                <a:lnTo>
                  <a:pt x="6943027" y="3220244"/>
                </a:lnTo>
                <a:lnTo>
                  <a:pt x="0" y="3220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486" r="-7882" b="-6239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690541" y="5143500"/>
            <a:ext cx="7352771" cy="3396165"/>
            <a:chOff x="0" y="0"/>
            <a:chExt cx="1936532" cy="8944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6532" cy="894463"/>
            </a:xfrm>
            <a:custGeom>
              <a:avLst/>
              <a:gdLst/>
              <a:ahLst/>
              <a:cxnLst/>
              <a:rect l="l" t="t" r="r" b="b"/>
              <a:pathLst>
                <a:path w="1936532" h="894463">
                  <a:moveTo>
                    <a:pt x="26323" y="0"/>
                  </a:moveTo>
                  <a:lnTo>
                    <a:pt x="1910209" y="0"/>
                  </a:lnTo>
                  <a:cubicBezTo>
                    <a:pt x="1917190" y="0"/>
                    <a:pt x="1923886" y="2773"/>
                    <a:pt x="1928822" y="7710"/>
                  </a:cubicBezTo>
                  <a:cubicBezTo>
                    <a:pt x="1933759" y="12646"/>
                    <a:pt x="1936532" y="19342"/>
                    <a:pt x="1936532" y="26323"/>
                  </a:cubicBezTo>
                  <a:lnTo>
                    <a:pt x="1936532" y="868140"/>
                  </a:lnTo>
                  <a:cubicBezTo>
                    <a:pt x="1936532" y="875121"/>
                    <a:pt x="1933759" y="881817"/>
                    <a:pt x="1928822" y="886753"/>
                  </a:cubicBezTo>
                  <a:cubicBezTo>
                    <a:pt x="1923886" y="891690"/>
                    <a:pt x="1917190" y="894463"/>
                    <a:pt x="1910209" y="894463"/>
                  </a:cubicBezTo>
                  <a:lnTo>
                    <a:pt x="26323" y="894463"/>
                  </a:lnTo>
                  <a:cubicBezTo>
                    <a:pt x="19342" y="894463"/>
                    <a:pt x="12646" y="891690"/>
                    <a:pt x="7710" y="886753"/>
                  </a:cubicBezTo>
                  <a:cubicBezTo>
                    <a:pt x="2773" y="881817"/>
                    <a:pt x="0" y="875121"/>
                    <a:pt x="0" y="868140"/>
                  </a:cubicBezTo>
                  <a:lnTo>
                    <a:pt x="0" y="26323"/>
                  </a:lnTo>
                  <a:cubicBezTo>
                    <a:pt x="0" y="19342"/>
                    <a:pt x="2773" y="12646"/>
                    <a:pt x="7710" y="7710"/>
                  </a:cubicBezTo>
                  <a:cubicBezTo>
                    <a:pt x="12646" y="2773"/>
                    <a:pt x="19342" y="0"/>
                    <a:pt x="26323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1936532" cy="999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094790"/>
            <a:ext cx="10459953" cy="4964172"/>
          </a:xfrm>
          <a:custGeom>
            <a:avLst/>
            <a:gdLst/>
            <a:ahLst/>
            <a:cxnLst/>
            <a:rect l="l" t="t" r="r" b="b"/>
            <a:pathLst>
              <a:path w="10459953" h="4964172">
                <a:moveTo>
                  <a:pt x="0" y="0"/>
                </a:moveTo>
                <a:lnTo>
                  <a:pt x="10459953" y="0"/>
                </a:lnTo>
                <a:lnTo>
                  <a:pt x="10459953" y="4964172"/>
                </a:lnTo>
                <a:lnTo>
                  <a:pt x="0" y="4964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201" t="-101313" r="-120783" b="-110386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971950" y="5387316"/>
            <a:ext cx="7619354" cy="284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32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2021, Atliq provided the highest average pre-invoice discount to its top 5 customers, with Flipkart receiving the highest discount at 30.83%.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95025" y="1581244"/>
            <a:ext cx="1457648" cy="1312412"/>
          </a:xfrm>
          <a:custGeom>
            <a:avLst/>
            <a:gdLst/>
            <a:ahLst/>
            <a:cxnLst/>
            <a:rect l="l" t="t" r="r" b="b"/>
            <a:pathLst>
              <a:path w="1457648" h="1312412">
                <a:moveTo>
                  <a:pt x="0" y="0"/>
                </a:moveTo>
                <a:lnTo>
                  <a:pt x="1457648" y="0"/>
                </a:lnTo>
                <a:lnTo>
                  <a:pt x="1457648" y="1312412"/>
                </a:lnTo>
                <a:lnTo>
                  <a:pt x="0" y="1312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7171" y="459142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882161"/>
            <a:ext cx="14740011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Get the complete report of the Gross sales amount for the customer “Atliq Exclusive” for each month . This analysis helps to get an idea of low and high-performing months and take strategic decisions. The final report contains these columns: Month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Year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Gross sales Amount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3601" y="4829492"/>
            <a:ext cx="11661478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monthname(date_add(m.date ,interval 4 month)) as month_n,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m.fiscal_year as year,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Round(sum(gross_price*sold_quantity)/1000000,2) as Gross_sales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fact_sales_monthly m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 fact_gross_price g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m.product_code = g.product_code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dim_customer c on c.customer_code = m.customer_code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 c.customer = 'Atliq Exclusive'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by m.date, year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by month_n,year;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5337" y="1381758"/>
            <a:ext cx="13422888" cy="6340189"/>
          </a:xfrm>
          <a:custGeom>
            <a:avLst/>
            <a:gdLst/>
            <a:ahLst/>
            <a:cxnLst/>
            <a:rect l="l" t="t" r="r" b="b"/>
            <a:pathLst>
              <a:path w="13422888" h="6340189">
                <a:moveTo>
                  <a:pt x="0" y="0"/>
                </a:moveTo>
                <a:lnTo>
                  <a:pt x="13422888" y="0"/>
                </a:lnTo>
                <a:lnTo>
                  <a:pt x="13422888" y="6340189"/>
                </a:lnTo>
                <a:lnTo>
                  <a:pt x="0" y="634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75" t="-53118" r="-52119" b="-3634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374107" y="6086400"/>
            <a:ext cx="4663752" cy="2895883"/>
            <a:chOff x="0" y="0"/>
            <a:chExt cx="1228313" cy="7627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8313" cy="762702"/>
            </a:xfrm>
            <a:custGeom>
              <a:avLst/>
              <a:gdLst/>
              <a:ahLst/>
              <a:cxnLst/>
              <a:rect l="l" t="t" r="r" b="b"/>
              <a:pathLst>
                <a:path w="1228313" h="762702">
                  <a:moveTo>
                    <a:pt x="41500" y="0"/>
                  </a:moveTo>
                  <a:lnTo>
                    <a:pt x="1186813" y="0"/>
                  </a:lnTo>
                  <a:cubicBezTo>
                    <a:pt x="1209733" y="0"/>
                    <a:pt x="1228313" y="18580"/>
                    <a:pt x="1228313" y="41500"/>
                  </a:cubicBezTo>
                  <a:lnTo>
                    <a:pt x="1228313" y="721201"/>
                  </a:lnTo>
                  <a:cubicBezTo>
                    <a:pt x="1228313" y="744121"/>
                    <a:pt x="1209733" y="762702"/>
                    <a:pt x="1186813" y="762702"/>
                  </a:cubicBezTo>
                  <a:lnTo>
                    <a:pt x="41500" y="762702"/>
                  </a:lnTo>
                  <a:cubicBezTo>
                    <a:pt x="18580" y="762702"/>
                    <a:pt x="0" y="744121"/>
                    <a:pt x="0" y="721201"/>
                  </a:cubicBezTo>
                  <a:lnTo>
                    <a:pt x="0" y="41500"/>
                  </a:lnTo>
                  <a:cubicBezTo>
                    <a:pt x="0" y="18580"/>
                    <a:pt x="18580" y="0"/>
                    <a:pt x="41500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1228313" cy="867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561713" y="6237036"/>
            <a:ext cx="4288540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2021 shows higher sales than 2020 across every month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7171" y="459142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882161"/>
            <a:ext cx="14740011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In which quarter of 2020, got the maximum total_sold_quantity? The final output contains these fields sorted by the total_sold_quantity.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Quarter ,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total_sold_quantity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2196" y="4534278"/>
            <a:ext cx="11976100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concat("Q",quarter(date_add(date,interval 4 month)))as quarter_c,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round(sum(sold_quantity)/1000000,2) as total_sold_quantity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fact_sales_monthly f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 fiscal_year = 2020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by quarter_c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by total_sold_quantity Desc;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30877" y="745731"/>
            <a:ext cx="5975028" cy="4397769"/>
          </a:xfrm>
          <a:custGeom>
            <a:avLst/>
            <a:gdLst/>
            <a:ahLst/>
            <a:cxnLst/>
            <a:rect l="l" t="t" r="r" b="b"/>
            <a:pathLst>
              <a:path w="5975028" h="4397769">
                <a:moveTo>
                  <a:pt x="0" y="0"/>
                </a:moveTo>
                <a:lnTo>
                  <a:pt x="5975027" y="0"/>
                </a:lnTo>
                <a:lnTo>
                  <a:pt x="5975027" y="4397769"/>
                </a:lnTo>
                <a:lnTo>
                  <a:pt x="0" y="4397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7872" y="1496006"/>
            <a:ext cx="9622065" cy="6499584"/>
          </a:xfrm>
          <a:custGeom>
            <a:avLst/>
            <a:gdLst/>
            <a:ahLst/>
            <a:cxnLst/>
            <a:rect l="l" t="t" r="r" b="b"/>
            <a:pathLst>
              <a:path w="9622065" h="6499584">
                <a:moveTo>
                  <a:pt x="0" y="0"/>
                </a:moveTo>
                <a:lnTo>
                  <a:pt x="9622065" y="0"/>
                </a:lnTo>
                <a:lnTo>
                  <a:pt x="9622065" y="6499584"/>
                </a:lnTo>
                <a:lnTo>
                  <a:pt x="0" y="6499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35" t="-61904" r="-213624" b="-11169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616577" y="5252676"/>
            <a:ext cx="6955400" cy="3396165"/>
            <a:chOff x="0" y="0"/>
            <a:chExt cx="1831875" cy="8944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1875" cy="894463"/>
            </a:xfrm>
            <a:custGeom>
              <a:avLst/>
              <a:gdLst/>
              <a:ahLst/>
              <a:cxnLst/>
              <a:rect l="l" t="t" r="r" b="b"/>
              <a:pathLst>
                <a:path w="1831875" h="894463">
                  <a:moveTo>
                    <a:pt x="27827" y="0"/>
                  </a:moveTo>
                  <a:lnTo>
                    <a:pt x="1804048" y="0"/>
                  </a:lnTo>
                  <a:cubicBezTo>
                    <a:pt x="1811428" y="0"/>
                    <a:pt x="1818506" y="2932"/>
                    <a:pt x="1823725" y="8150"/>
                  </a:cubicBezTo>
                  <a:cubicBezTo>
                    <a:pt x="1828943" y="13369"/>
                    <a:pt x="1831875" y="20447"/>
                    <a:pt x="1831875" y="27827"/>
                  </a:cubicBezTo>
                  <a:lnTo>
                    <a:pt x="1831875" y="866636"/>
                  </a:lnTo>
                  <a:cubicBezTo>
                    <a:pt x="1831875" y="882005"/>
                    <a:pt x="1819416" y="894463"/>
                    <a:pt x="1804048" y="894463"/>
                  </a:cubicBezTo>
                  <a:lnTo>
                    <a:pt x="27827" y="894463"/>
                  </a:lnTo>
                  <a:cubicBezTo>
                    <a:pt x="12459" y="894463"/>
                    <a:pt x="0" y="882005"/>
                    <a:pt x="0" y="866636"/>
                  </a:cubicBezTo>
                  <a:lnTo>
                    <a:pt x="0" y="27827"/>
                  </a:lnTo>
                  <a:cubicBezTo>
                    <a:pt x="0" y="12459"/>
                    <a:pt x="12459" y="0"/>
                    <a:pt x="27827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831875" cy="999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75224" y="5427076"/>
            <a:ext cx="6312486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in 2020 were impacted by the COVID-19 pandemic, with variations across quarters due to lockdowns and market disruptions.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1302" y="409647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882161"/>
            <a:ext cx="14740011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Which channel helped to bring more gross sales in the fiscal year 2021 and the percentage of contribution? The final output contains these fields, channel gross_sales_mln </a:t>
            </a: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percentage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2196" y="4058378"/>
            <a:ext cx="12149270" cy="5844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gross_table as (select c.channel,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round(sum(gross_price* sold_quantity)/1000000,2) as gross_sales_mln 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fact_sales_monthly f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fact_gross_price g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g.product_code = f.product_code and f.fiscal_year = g.fiscal_year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dim_customer c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f.customer_code = c.customer_code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 f.fiscal_year = 2021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by c.channel)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*,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round(gross_sales_mln*100 /sum(gross_sales_mln) over(),2) as perc_contri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gross_table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by gross_sales_mln desc;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35732" y="1815523"/>
            <a:ext cx="7190190" cy="3417455"/>
          </a:xfrm>
          <a:custGeom>
            <a:avLst/>
            <a:gdLst/>
            <a:ahLst/>
            <a:cxnLst/>
            <a:rect l="l" t="t" r="r" b="b"/>
            <a:pathLst>
              <a:path w="7190190" h="3417455">
                <a:moveTo>
                  <a:pt x="0" y="0"/>
                </a:moveTo>
                <a:lnTo>
                  <a:pt x="7190190" y="0"/>
                </a:lnTo>
                <a:lnTo>
                  <a:pt x="7190190" y="3417455"/>
                </a:lnTo>
                <a:lnTo>
                  <a:pt x="0" y="3417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1694" y="2753512"/>
            <a:ext cx="9151184" cy="5342794"/>
          </a:xfrm>
          <a:custGeom>
            <a:avLst/>
            <a:gdLst/>
            <a:ahLst/>
            <a:cxnLst/>
            <a:rect l="l" t="t" r="r" b="b"/>
            <a:pathLst>
              <a:path w="9151184" h="5342794">
                <a:moveTo>
                  <a:pt x="0" y="0"/>
                </a:moveTo>
                <a:lnTo>
                  <a:pt x="9151183" y="0"/>
                </a:lnTo>
                <a:lnTo>
                  <a:pt x="9151183" y="5342794"/>
                </a:lnTo>
                <a:lnTo>
                  <a:pt x="0" y="5342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319" t="-149787" r="-181923" b="-9536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670522" y="5746084"/>
            <a:ext cx="6955400" cy="3396165"/>
            <a:chOff x="0" y="0"/>
            <a:chExt cx="1831875" cy="8944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1875" cy="894463"/>
            </a:xfrm>
            <a:custGeom>
              <a:avLst/>
              <a:gdLst/>
              <a:ahLst/>
              <a:cxnLst/>
              <a:rect l="l" t="t" r="r" b="b"/>
              <a:pathLst>
                <a:path w="1831875" h="894463">
                  <a:moveTo>
                    <a:pt x="27827" y="0"/>
                  </a:moveTo>
                  <a:lnTo>
                    <a:pt x="1804048" y="0"/>
                  </a:lnTo>
                  <a:cubicBezTo>
                    <a:pt x="1811428" y="0"/>
                    <a:pt x="1818506" y="2932"/>
                    <a:pt x="1823725" y="8150"/>
                  </a:cubicBezTo>
                  <a:cubicBezTo>
                    <a:pt x="1828943" y="13369"/>
                    <a:pt x="1831875" y="20447"/>
                    <a:pt x="1831875" y="27827"/>
                  </a:cubicBezTo>
                  <a:lnTo>
                    <a:pt x="1831875" y="866636"/>
                  </a:lnTo>
                  <a:cubicBezTo>
                    <a:pt x="1831875" y="882005"/>
                    <a:pt x="1819416" y="894463"/>
                    <a:pt x="1804048" y="894463"/>
                  </a:cubicBezTo>
                  <a:lnTo>
                    <a:pt x="27827" y="894463"/>
                  </a:lnTo>
                  <a:cubicBezTo>
                    <a:pt x="12459" y="894463"/>
                    <a:pt x="0" y="882005"/>
                    <a:pt x="0" y="866636"/>
                  </a:cubicBezTo>
                  <a:lnTo>
                    <a:pt x="0" y="27827"/>
                  </a:lnTo>
                  <a:cubicBezTo>
                    <a:pt x="0" y="12459"/>
                    <a:pt x="12459" y="0"/>
                    <a:pt x="27827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831875" cy="9992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62830" y="6193217"/>
            <a:ext cx="6410770" cy="244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Retailer channel contributed the highest gross sales in 2021, accounting for 73.23% of total revenue.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1302" y="4096478"/>
            <a:ext cx="803058" cy="803058"/>
          </a:xfrm>
          <a:custGeom>
            <a:avLst/>
            <a:gdLst/>
            <a:ahLst/>
            <a:cxnLst/>
            <a:rect l="l" t="t" r="r" b="b"/>
            <a:pathLst>
              <a:path w="803058" h="803058">
                <a:moveTo>
                  <a:pt x="0" y="0"/>
                </a:moveTo>
                <a:lnTo>
                  <a:pt x="803058" y="0"/>
                </a:lnTo>
                <a:lnTo>
                  <a:pt x="803058" y="803058"/>
                </a:lnTo>
                <a:lnTo>
                  <a:pt x="0" y="803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196" y="1262427"/>
            <a:ext cx="16021985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Get the Top 3 products in each division that have a high total_sold_quantity in the fiscal_year 2021? The final output contains these fields, 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division 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product_code ,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 ,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total_sold_quantity ,</a:t>
            </a: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rank_order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2196" y="4058378"/>
            <a:ext cx="12149270" cy="542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product_t as (select division,p.product_code,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sum(sold_quantity) as total_sold_quantity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from fact_sales_monthly f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fact_gross_price g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f.product_code = g.product_code and g.fiscal_year = f.fiscal_year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dim_product p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f.product_code = p.product_code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 f.fiscal_year = 2021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group by division , product_code),drnk_table as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(select *, dense_rank() over(partition by division order by total_sold_quantity desc) as dnk 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product_t)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* from drnk_table where dnk &lt;=3;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02839" y="1776831"/>
            <a:ext cx="10699948" cy="7166020"/>
          </a:xfrm>
          <a:custGeom>
            <a:avLst/>
            <a:gdLst/>
            <a:ahLst/>
            <a:cxnLst/>
            <a:rect l="l" t="t" r="r" b="b"/>
            <a:pathLst>
              <a:path w="10699948" h="7166020">
                <a:moveTo>
                  <a:pt x="0" y="0"/>
                </a:moveTo>
                <a:lnTo>
                  <a:pt x="10699948" y="0"/>
                </a:lnTo>
                <a:lnTo>
                  <a:pt x="10699948" y="7166020"/>
                </a:lnTo>
                <a:lnTo>
                  <a:pt x="0" y="716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410738" cy="10287000"/>
          </a:xfrm>
          <a:custGeom>
            <a:avLst/>
            <a:gdLst/>
            <a:ahLst/>
            <a:cxnLst/>
            <a:rect l="l" t="t" r="r" b="b"/>
            <a:pathLst>
              <a:path w="18410738" h="10287000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9292" y="6744992"/>
            <a:ext cx="7010400" cy="1324595"/>
            <a:chOff x="0" y="0"/>
            <a:chExt cx="1846360" cy="348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6361" cy="348865"/>
            </a:xfrm>
            <a:custGeom>
              <a:avLst/>
              <a:gdLst/>
              <a:ahLst/>
              <a:cxnLst/>
              <a:rect l="l" t="t" r="r" b="b"/>
              <a:pathLst>
                <a:path w="1846361" h="348865">
                  <a:moveTo>
                    <a:pt x="27609" y="0"/>
                  </a:moveTo>
                  <a:lnTo>
                    <a:pt x="1818752" y="0"/>
                  </a:lnTo>
                  <a:cubicBezTo>
                    <a:pt x="1826074" y="0"/>
                    <a:pt x="1833096" y="2909"/>
                    <a:pt x="1838274" y="8086"/>
                  </a:cubicBezTo>
                  <a:cubicBezTo>
                    <a:pt x="1843452" y="13264"/>
                    <a:pt x="1846361" y="20286"/>
                    <a:pt x="1846361" y="27609"/>
                  </a:cubicBezTo>
                  <a:lnTo>
                    <a:pt x="1846361" y="321256"/>
                  </a:lnTo>
                  <a:cubicBezTo>
                    <a:pt x="1846361" y="328578"/>
                    <a:pt x="1843452" y="335600"/>
                    <a:pt x="1838274" y="340778"/>
                  </a:cubicBezTo>
                  <a:cubicBezTo>
                    <a:pt x="1833096" y="345956"/>
                    <a:pt x="1826074" y="348865"/>
                    <a:pt x="1818752" y="348865"/>
                  </a:cubicBezTo>
                  <a:lnTo>
                    <a:pt x="27609" y="348865"/>
                  </a:lnTo>
                  <a:cubicBezTo>
                    <a:pt x="20286" y="348865"/>
                    <a:pt x="13264" y="345956"/>
                    <a:pt x="8086" y="340778"/>
                  </a:cubicBezTo>
                  <a:cubicBezTo>
                    <a:pt x="2909" y="335600"/>
                    <a:pt x="0" y="328578"/>
                    <a:pt x="0" y="321256"/>
                  </a:cubicBezTo>
                  <a:lnTo>
                    <a:pt x="0" y="27609"/>
                  </a:lnTo>
                  <a:cubicBezTo>
                    <a:pt x="0" y="20286"/>
                    <a:pt x="2909" y="13264"/>
                    <a:pt x="8086" y="8086"/>
                  </a:cubicBezTo>
                  <a:cubicBezTo>
                    <a:pt x="13264" y="2909"/>
                    <a:pt x="20286" y="0"/>
                    <a:pt x="27609" y="0"/>
                  </a:cubicBezTo>
                  <a:close/>
                </a:path>
              </a:pathLst>
            </a:custGeom>
            <a:solidFill>
              <a:srgbClr val="4D759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846360" cy="453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4807" y="1583314"/>
            <a:ext cx="5425264" cy="7120372"/>
            <a:chOff x="0" y="0"/>
            <a:chExt cx="840515" cy="11031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0515" cy="1103132"/>
            </a:xfrm>
            <a:custGeom>
              <a:avLst/>
              <a:gdLst/>
              <a:ahLst/>
              <a:cxnLst/>
              <a:rect l="l" t="t" r="r" b="b"/>
              <a:pathLst>
                <a:path w="840515" h="1103132">
                  <a:moveTo>
                    <a:pt x="32821" y="0"/>
                  </a:moveTo>
                  <a:lnTo>
                    <a:pt x="807694" y="0"/>
                  </a:lnTo>
                  <a:cubicBezTo>
                    <a:pt x="825821" y="0"/>
                    <a:pt x="840515" y="14695"/>
                    <a:pt x="840515" y="32821"/>
                  </a:cubicBezTo>
                  <a:lnTo>
                    <a:pt x="840515" y="1070311"/>
                  </a:lnTo>
                  <a:cubicBezTo>
                    <a:pt x="840515" y="1088437"/>
                    <a:pt x="825821" y="1103132"/>
                    <a:pt x="807694" y="1103132"/>
                  </a:cubicBezTo>
                  <a:lnTo>
                    <a:pt x="32821" y="1103132"/>
                  </a:lnTo>
                  <a:cubicBezTo>
                    <a:pt x="14695" y="1103132"/>
                    <a:pt x="0" y="1088437"/>
                    <a:pt x="0" y="1070311"/>
                  </a:cubicBezTo>
                  <a:lnTo>
                    <a:pt x="0" y="32821"/>
                  </a:lnTo>
                  <a:cubicBezTo>
                    <a:pt x="0" y="14695"/>
                    <a:pt x="14695" y="0"/>
                    <a:pt x="32821" y="0"/>
                  </a:cubicBezTo>
                  <a:close/>
                </a:path>
              </a:pathLst>
            </a:custGeom>
            <a:blipFill>
              <a:blip r:embed="rId3"/>
              <a:stretch>
                <a:fillRect t="-17727" b="-177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-2529303" y="-260535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7" y="0"/>
                </a:lnTo>
                <a:lnTo>
                  <a:pt x="6884267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931466" y="9258300"/>
            <a:ext cx="6884267" cy="1289235"/>
          </a:xfrm>
          <a:custGeom>
            <a:avLst/>
            <a:gdLst/>
            <a:ahLst/>
            <a:cxnLst/>
            <a:rect l="l" t="t" r="r" b="b"/>
            <a:pathLst>
              <a:path w="6884267" h="1289235">
                <a:moveTo>
                  <a:pt x="0" y="0"/>
                </a:moveTo>
                <a:lnTo>
                  <a:pt x="6884268" y="0"/>
                </a:lnTo>
                <a:lnTo>
                  <a:pt x="6884268" y="1289235"/>
                </a:lnTo>
                <a:lnTo>
                  <a:pt x="0" y="128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28014" y="9070673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17774" y="793874"/>
            <a:ext cx="1655826" cy="469652"/>
          </a:xfrm>
          <a:custGeom>
            <a:avLst/>
            <a:gdLst/>
            <a:ahLst/>
            <a:cxnLst/>
            <a:rect l="l" t="t" r="r" b="b"/>
            <a:pathLst>
              <a:path w="1655826" h="469652">
                <a:moveTo>
                  <a:pt x="0" y="0"/>
                </a:moveTo>
                <a:lnTo>
                  <a:pt x="1655826" y="0"/>
                </a:lnTo>
                <a:lnTo>
                  <a:pt x="1655826" y="469652"/>
                </a:lnTo>
                <a:lnTo>
                  <a:pt x="0" y="469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39292" y="4991221"/>
            <a:ext cx="937018" cy="937018"/>
          </a:xfrm>
          <a:custGeom>
            <a:avLst/>
            <a:gdLst/>
            <a:ahLst/>
            <a:cxnLst/>
            <a:rect l="l" t="t" r="r" b="b"/>
            <a:pathLst>
              <a:path w="937018" h="937018">
                <a:moveTo>
                  <a:pt x="0" y="0"/>
                </a:moveTo>
                <a:lnTo>
                  <a:pt x="937018" y="0"/>
                </a:lnTo>
                <a:lnTo>
                  <a:pt x="937018" y="937018"/>
                </a:lnTo>
                <a:lnTo>
                  <a:pt x="0" y="9370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038313" y="7113719"/>
            <a:ext cx="777287" cy="662814"/>
          </a:xfrm>
          <a:custGeom>
            <a:avLst/>
            <a:gdLst/>
            <a:ahLst/>
            <a:cxnLst/>
            <a:rect l="l" t="t" r="r" b="b"/>
            <a:pathLst>
              <a:path w="777287" h="662814">
                <a:moveTo>
                  <a:pt x="0" y="0"/>
                </a:moveTo>
                <a:lnTo>
                  <a:pt x="777287" y="0"/>
                </a:lnTo>
                <a:lnTo>
                  <a:pt x="777287" y="662814"/>
                </a:lnTo>
                <a:lnTo>
                  <a:pt x="0" y="6628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39292" y="2745237"/>
            <a:ext cx="8734192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>
                <a:solidFill>
                  <a:srgbClr val="262626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15600" y="7262181"/>
            <a:ext cx="5260911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spc="-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Naveen Jhinjarye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15600" y="6785106"/>
            <a:ext cx="5260911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Linkedin ID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15600" y="5417267"/>
            <a:ext cx="5260911" cy="5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naveencharuni26@gmail.com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15600" y="5045791"/>
            <a:ext cx="5260911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>
                <a:solidFill>
                  <a:srgbClr val="4D759C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My Gmail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1681</Words>
  <Application>Microsoft Office PowerPoint</Application>
  <PresentationFormat>Custom</PresentationFormat>
  <Paragraphs>171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Canva Sans</vt:lpstr>
      <vt:lpstr>Canva Sans Bold</vt:lpstr>
      <vt:lpstr>Red Hat Display</vt:lpstr>
      <vt:lpstr>Red Hat Display Bold</vt:lpstr>
      <vt:lpstr>DM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Company Pitch Deck Presentation</dc:title>
  <cp:lastModifiedBy>Naveen jhinjarye</cp:lastModifiedBy>
  <cp:revision>3</cp:revision>
  <dcterms:created xsi:type="dcterms:W3CDTF">2006-08-16T00:00:00Z</dcterms:created>
  <dcterms:modified xsi:type="dcterms:W3CDTF">2026-04-07T06:17:12Z</dcterms:modified>
  <dc:identifier>DAHFTcUX5T8</dc:identifier>
</cp:coreProperties>
</file>